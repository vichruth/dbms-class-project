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(~30 SECONDS)</a:t>
            </a:r>
          </a:p>
          <a:p>
            <a:r>
              <a:t>This project studies a database design for personal devices that continue writing while disconnected. The proposed edge tier records operations locally in SQLite, while PostgreSQL stores the normalized cloud state. Today I present the problem, requirements, specialization model and relational mapping. The distributed synchronization engine is a later implementation milestone. EdgeDB is our academic project name, with no affiliation to the existing EdgeDB product.</a:t>
            </a:r>
          </a:p>
          <a:p/>
          <a:p>
            <a:r>
              <a:t>VISUAL LAYOUT</a:t>
            </a:r>
          </a:p>
          <a:p>
            <a:r>
              <a:t>Large title and student metadata at left, deployment contract at right. Full project title in speaker notes.</a:t>
            </a:r>
          </a:p>
          <a:p/>
          <a:p>
            <a:r>
              <a:t>SQL / SCHEMA</a:t>
            </a:r>
          </a:p>
          <a:p>
            <a:r>
              <a:t>-- Logical deployment contract</a:t>
            </a:r>
          </a:p>
          <a:p>
            <a:r>
              <a:t>-- Edge: SQLite 3 operation log</a:t>
            </a:r>
          </a:p>
          <a:p>
            <a:r>
              <a:t>-- Cloud: PostgreSQL 16</a:t>
            </a:r>
          </a:p>
          <a:p>
            <a:r>
              <a:t>-- Local writes survive disconnection</a:t>
            </a:r>
          </a:p>
          <a:p/>
          <a:p>
            <a:r>
              <a:t>FULL PROJECT TITLE</a:t>
            </a:r>
          </a:p>
          <a:p>
            <a:r>
              <a:t>EdgeDB — A Distributed Multi-Master Synchronization &amp; Conflict-Resilient DBMS Engine for Heterogeneous Edge-IoT Ecosystems</a:t>
            </a:r>
          </a:p>
          <a:p/>
          <a:p>
            <a:r>
              <a:t>DESIGN STATUS</a:t>
            </a:r>
          </a:p>
          <a:p>
            <a:r>
              <a:t>Proposed academic design. No repository or device test results were supplied.</a:t>
            </a:r>
          </a:p>
          <a:p/>
          <a:p>
            <a:r>
              <a:t>TECHNICAL REFERENCES</a:t>
            </a:r>
          </a:p>
          <a:p>
            <a:r>
              <a:t>PostgreSQL 16: https://www.postgresql.org/docs/16/ddl-constraints.html</a:t>
            </a:r>
          </a:p>
          <a:p>
            <a:r>
              <a:t>Constraint triggers: https://www.postgresql.org/docs/16/sql-createconstraint.html</a:t>
            </a:r>
          </a:p>
          <a:p>
            <a:r>
              <a:t>Health Connect: https://developer.android.com/health-and-fitness/health-connect/aggregate-data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(~30 SECONDS)</a:t>
            </a:r>
          </a:p>
          <a:p>
            <a:r>
              <a:t>Suppose both devices read version four of an expense and then disconnect. They independently produce different amounts. If the server accepts both through blind updates, the later write silently erases the earlier one. A version predicate detects a stale update. We also need to preserve sensor provenance because two devices can record the same physical activity. The SQL is a proposed application contract, not evidence of an implemented synchronization algorithm.</a:t>
            </a:r>
          </a:p>
          <a:p/>
          <a:p>
            <a:r>
              <a:t>VISUAL LAYOUT</a:t>
            </a:r>
          </a:p>
          <a:p>
            <a:r>
              <a:t>Two-column: technical claims at left, editable SQL at right.</a:t>
            </a:r>
          </a:p>
          <a:p/>
          <a:p>
            <a:r>
              <a:t>SQL / SCHEMA</a:t>
            </a:r>
          </a:p>
          <a:p>
            <a:r>
              <a:t>-- Compare-and-swap proposal</a:t>
            </a:r>
          </a:p>
          <a:p>
            <a:r>
              <a:t>UPDATE expense</a:t>
            </a:r>
          </a:p>
          <a:p>
            <a:r>
              <a:t>SET amount = 550, version = 5</a:t>
            </a:r>
          </a:p>
          <a:p>
            <a:r>
              <a:t>WHERE expense_id = :id</a:t>
            </a:r>
          </a:p>
          <a:p>
            <a:r>
              <a:t>  AND version = 4</a:t>
            </a:r>
          </a:p>
          <a:p>
            <a:r>
              <a:t>RETURNING version;</a:t>
            </a:r>
          </a:p>
          <a:p>
            <a:r>
              <a:t>-- 0 rows: stale base version</a:t>
            </a:r>
          </a:p>
          <a:p>
            <a:r>
              <a:t>-- record conflict, do not overwrite</a:t>
            </a:r>
          </a:p>
          <a:p/>
          <a:p>
            <a:r>
              <a:t>FULL PROJECT TITLE</a:t>
            </a:r>
          </a:p>
          <a:p>
            <a:r>
              <a:t>EdgeDB — A Distributed Multi-Master Synchronization &amp; Conflict-Resilient DBMS Engine for Heterogeneous Edge-IoT Ecosystems</a:t>
            </a:r>
          </a:p>
          <a:p/>
          <a:p>
            <a:r>
              <a:t>DESIGN STATUS</a:t>
            </a:r>
          </a:p>
          <a:p>
            <a:r>
              <a:t>Proposed academic design. No repository or device test results were supplied.</a:t>
            </a:r>
          </a:p>
          <a:p/>
          <a:p>
            <a:r>
              <a:t>TECHNICAL REFERENCES</a:t>
            </a:r>
          </a:p>
          <a:p>
            <a:r>
              <a:t>PostgreSQL 16: https://www.postgresql.org/docs/16/ddl-constraints.html</a:t>
            </a:r>
          </a:p>
          <a:p>
            <a:r>
              <a:t>Constraint triggers: https://www.postgresql.org/docs/16/sql-createconstraint.html</a:t>
            </a:r>
          </a:p>
          <a:p>
            <a:r>
              <a:t>Health Connect: https://developer.android.com/health-and-fitness/health-connect/aggregate-data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(~30 SECONDS)</a:t>
            </a:r>
          </a:p>
          <a:p>
            <a:r>
              <a:t>The mobile and desktop clients act as independent writers. The watch is a logical data source, not an assumed PostgreSQL or SQLite host. Its companion export and Health Connect support must be validated on the actual device. Acceptance criteria include surviving a restart offline, preserving one logical batch across retries and detecting stale writes. Ordinary SQL views report committed cloud state only, so freshness depends on synchronization and query timing.</a:t>
            </a:r>
          </a:p>
          <a:p/>
          <a:p>
            <a:r>
              <a:t>VISUAL LAYOUT</a:t>
            </a:r>
          </a:p>
          <a:p>
            <a:r>
              <a:t>Hardware roles at left, local storage contract at right. Requirements and assumptions remain visually distinct.</a:t>
            </a:r>
          </a:p>
          <a:p/>
          <a:p>
            <a:r>
              <a:t>SQL / SCHEMA</a:t>
            </a:r>
          </a:p>
          <a:p>
            <a:r>
              <a:t>-- SQLite 3: logical outbox sketch</a:t>
            </a:r>
          </a:p>
          <a:p>
            <a:r>
              <a:t>CREATE TABLE local_operation (</a:t>
            </a:r>
          </a:p>
          <a:p>
            <a:r>
              <a:t> op_id TEXT PRIMARY KEY,</a:t>
            </a:r>
          </a:p>
          <a:p>
            <a:r>
              <a:t> entity_id TEXT NOT NULL,</a:t>
            </a:r>
          </a:p>
          <a:p>
            <a:r>
              <a:t> base_version INTEGER NOT NULL,</a:t>
            </a:r>
          </a:p>
          <a:p>
            <a:r>
              <a:t> payload TEXT NOT NULL,</a:t>
            </a:r>
          </a:p>
          <a:p>
            <a:r>
              <a:t> event_time TEXT NOT NULL</a:t>
            </a:r>
          </a:p>
          <a:p>
            <a:r>
              <a:t>);</a:t>
            </a:r>
          </a:p>
          <a:p/>
          <a:p>
            <a:r>
              <a:t>FULL PROJECT TITLE</a:t>
            </a:r>
          </a:p>
          <a:p>
            <a:r>
              <a:t>EdgeDB — A Distributed Multi-Master Synchronization &amp; Conflict-Resilient DBMS Engine for Heterogeneous Edge-IoT Ecosystems</a:t>
            </a:r>
          </a:p>
          <a:p/>
          <a:p>
            <a:r>
              <a:t>DESIGN STATUS</a:t>
            </a:r>
          </a:p>
          <a:p>
            <a:r>
              <a:t>Proposed academic design. No repository or device test results were supplied.</a:t>
            </a:r>
          </a:p>
          <a:p/>
          <a:p>
            <a:r>
              <a:t>TECHNICAL REFERENCES</a:t>
            </a:r>
          </a:p>
          <a:p>
            <a:r>
              <a:t>PostgreSQL 16: https://www.postgresql.org/docs/16/ddl-constraints.html</a:t>
            </a:r>
          </a:p>
          <a:p>
            <a:r>
              <a:t>Constraint triggers: https://www.postgresql.org/docs/16/sql-createconstraint.html</a:t>
            </a:r>
          </a:p>
          <a:p>
            <a:r>
              <a:t>Health Connect: https://developer.android.com/health-and-fitness/health-connect/aggregate-data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(~30 SECONDS)</a:t>
            </a:r>
          </a:p>
          <a:p>
            <a:r>
              <a:t>The double line means total specialization and the d marker means disjoint specialization. A device must belong to one and only one subtype. Common attributes stay in DEVICE, while subtype-specific fields move into their own relations. A shared primary key creates a one-to-one identity mapping. A deferred database assertion is still needed for totality, and the discriminator must agree with the selected subtype.</a:t>
            </a:r>
          </a:p>
          <a:p/>
          <a:p>
            <a:r>
              <a:t>VISUAL LAYOUT</a:t>
            </a:r>
          </a:p>
          <a:p>
            <a:r>
              <a:t>Editable EER diagram: DEVICE above a double-line total-specialization connector and disjoint d circle, with three subtype entities below.</a:t>
            </a:r>
          </a:p>
          <a:p/>
          <a:p>
            <a:r>
              <a:t>SQL / SCHEMA</a:t>
            </a:r>
          </a:p>
          <a:p>
            <a:r>
              <a:t>DEVICE(device_id PK, name, type)</a:t>
            </a:r>
          </a:p>
          <a:p>
            <a:r>
              <a:t>PHONE_DEVICE(device_id PK/FK,</a:t>
            </a:r>
          </a:p>
          <a:p>
            <a:r>
              <a:t>             android_release)</a:t>
            </a:r>
          </a:p>
          <a:p>
            <a:r>
              <a:t>LAPTOP_DEVICE(device_id PK/FK,</a:t>
            </a:r>
          </a:p>
          <a:p>
            <a:r>
              <a:t>              platform, cache_mb)</a:t>
            </a:r>
          </a:p>
          <a:p>
            <a:r>
              <a:t>WATCH_DEVICE(device_id PK/FK,</a:t>
            </a:r>
          </a:p>
          <a:p>
            <a:r>
              <a:t>             wearable_os, bridge)</a:t>
            </a:r>
          </a:p>
          <a:p/>
          <a:p>
            <a:r>
              <a:t>FULL PROJECT TITLE</a:t>
            </a:r>
          </a:p>
          <a:p>
            <a:r>
              <a:t>EdgeDB — A Distributed Multi-Master Synchronization &amp; Conflict-Resilient DBMS Engine for Heterogeneous Edge-IoT Ecosystems</a:t>
            </a:r>
          </a:p>
          <a:p/>
          <a:p>
            <a:r>
              <a:t>DESIGN STATUS</a:t>
            </a:r>
          </a:p>
          <a:p>
            <a:r>
              <a:t>Proposed academic design. No repository or device test results were supplied.</a:t>
            </a:r>
          </a:p>
          <a:p/>
          <a:p>
            <a:r>
              <a:t>TECHNICAL REFERENCES</a:t>
            </a:r>
          </a:p>
          <a:p>
            <a:r>
              <a:t>PostgreSQL 16: https://www.postgresql.org/docs/16/ddl-constraints.html</a:t>
            </a:r>
          </a:p>
          <a:p>
            <a:r>
              <a:t>Constraint triggers: https://www.postgresql.org/docs/16/sql-createconstraint.html</a:t>
            </a:r>
          </a:p>
          <a:p>
            <a:r>
              <a:t>Health Connect: https://developer.android.com/health-and-fitness/health-connect/aggregate-data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 (~30 SECONDS)</a:t>
            </a:r>
          </a:p>
          <a:p>
            <a:r>
              <a:t>The mapping contains nine relations including the three device subtypes. A batch uses the composite key of device and client sequence. An expense references that complete key, so its batch cannot accidentally belong to a different device. Subtypes cascade with their parent, while historical facts prevent accidental deletion. Review One next proves the dependency assumptions and translates this model into PostgreSQL constraints.</a:t>
            </a:r>
          </a:p>
          <a:p/>
          <a:p>
            <a:r>
              <a:t>VISUAL LAYOUT</a:t>
            </a:r>
          </a:p>
          <a:p>
            <a:r>
              <a:t>Relationship cardinalities at left, compact relational schema at right. Subtype details carry over from the preceding diagram.</a:t>
            </a:r>
          </a:p>
          <a:p/>
          <a:p>
            <a:r>
              <a:t>SQL / SCHEMA</a:t>
            </a:r>
          </a:p>
          <a:p>
            <a:r>
              <a:t>device(device_id PK, name, type)</a:t>
            </a:r>
          </a:p>
          <a:p>
            <a:r>
              <a:t>category(category_name PK, description)</a:t>
            </a:r>
          </a:p>
          <a:p>
            <a:r>
              <a:t>sync_batch(device_id PK/FK,</a:t>
            </a:r>
          </a:p>
          <a:p>
            <a:r>
              <a:t> client_batch_seq PK, sync_time)</a:t>
            </a:r>
          </a:p>
          <a:p>
            <a:r>
              <a:t>expense(expense_id PK, device_id FK,</a:t>
            </a:r>
          </a:p>
          <a:p>
            <a:r>
              <a:t> client_batch_seq FK, item_index,</a:t>
            </a:r>
          </a:p>
          <a:p>
            <a:r>
              <a:t> category_name FK, amount, version)</a:t>
            </a:r>
          </a:p>
          <a:p>
            <a:r>
              <a:t>activity_entry(entry_id PK, device_id FK,</a:t>
            </a:r>
          </a:p>
          <a:p>
            <a:r>
              <a:t> entry_date, step_count, version)</a:t>
            </a:r>
          </a:p>
          <a:p>
            <a:r>
              <a:t>conflict_log(conflict_id PK, expense_id FK)</a:t>
            </a:r>
          </a:p>
          <a:p/>
          <a:p>
            <a:r>
              <a:t>FULL PROJECT TITLE</a:t>
            </a:r>
          </a:p>
          <a:p>
            <a:r>
              <a:t>EdgeDB — A Distributed Multi-Master Synchronization &amp; Conflict-Resilient DBMS Engine for Heterogeneous Edge-IoT Ecosystems</a:t>
            </a:r>
          </a:p>
          <a:p/>
          <a:p>
            <a:r>
              <a:t>DESIGN STATUS</a:t>
            </a:r>
          </a:p>
          <a:p>
            <a:r>
              <a:t>Proposed academic design. No repository or device test results were supplied.</a:t>
            </a:r>
          </a:p>
          <a:p/>
          <a:p>
            <a:r>
              <a:t>TECHNICAL REFERENCES</a:t>
            </a:r>
          </a:p>
          <a:p>
            <a:r>
              <a:t>PostgreSQL 16: https://www.postgresql.org/docs/16/ddl-constraints.html</a:t>
            </a:r>
          </a:p>
          <a:p>
            <a:r>
              <a:t>Constraint triggers: https://www.postgresql.org/docs/16/sql-createconstraint.html</a:t>
            </a:r>
          </a:p>
          <a:p>
            <a:r>
              <a:t>Health Connect: https://developer.android.com/health-and-fitness/health-connect/aggregate-data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3"/>
        </a:solidFill>
        <a:effectLst/>
      </p:bgPr>
    </p:bg>
    <p:spTree>
      <p:nvGrpSpPr>
        <p:cNvPr id="1" name=""/>
        <p:cNvGrpSpPr/>
        <p:nvPr/>
      </p:nvGrpSpPr>
      <p:grpSpPr/>
      <p:sp>
        <p:nvSpPr>
          <p:cNvPr id="2" name="TextBox 1"/>
          <p:cNvSpPr txBox="1"/>
          <p:nvPr/>
        </p:nvSpPr>
        <p:spPr>
          <a:xfrm>
            <a:off x="548640" y="256032"/>
            <a:ext cx="10789920" cy="320040"/>
          </a:xfrm>
          <a:prstGeom prst="rect">
            <a:avLst/>
          </a:prstGeom>
          <a:noFill/>
        </p:spPr>
        <p:txBody>
          <a:bodyPr wrap="square" lIns="109728" tIns="54864" bIns="0">
            <a:spAutoFit/>
          </a:bodyPr>
          <a:lstStyle/>
          <a:p>
            <a:pPr>
              <a:spcAft>
                <a:spcPts val="900"/>
              </a:spcAft>
              <a:defRPr sz="1200" b="1">
                <a:solidFill>
                  <a:srgbClr val="0A84FF"/>
                </a:solidFill>
                <a:latin typeface="Aptos"/>
              </a:defRPr>
            </a:pPr>
            <a:r>
              <a:t>ZEROTH REVIEW</a:t>
            </a:r>
          </a:p>
        </p:txBody>
      </p:sp>
      <p:sp>
        <p:nvSpPr>
          <p:cNvPr id="3" name="TextBox 2"/>
          <p:cNvSpPr txBox="1"/>
          <p:nvPr/>
        </p:nvSpPr>
        <p:spPr>
          <a:xfrm>
            <a:off x="548640" y="704088"/>
            <a:ext cx="11064240" cy="914400"/>
          </a:xfrm>
          <a:prstGeom prst="rect">
            <a:avLst/>
          </a:prstGeom>
          <a:noFill/>
        </p:spPr>
        <p:txBody>
          <a:bodyPr wrap="square" lIns="109728" tIns="54864" bIns="0">
            <a:spAutoFit/>
          </a:bodyPr>
          <a:lstStyle/>
          <a:p>
            <a:pPr>
              <a:spcAft>
                <a:spcPts val="900"/>
              </a:spcAft>
              <a:defRPr sz="2900" b="1">
                <a:solidFill>
                  <a:srgbClr val="F5F5F7"/>
                </a:solidFill>
                <a:latin typeface="Aptos"/>
              </a:defRPr>
            </a:pPr>
            <a:r>
              <a:t>EdgeDB: Conceptual Foundations</a:t>
            </a:r>
          </a:p>
          <a:p>
            <a:pPr>
              <a:spcAft>
                <a:spcPts val="900"/>
              </a:spcAft>
              <a:defRPr sz="2900" b="1">
                <a:solidFill>
                  <a:srgbClr val="F5F5F7"/>
                </a:solidFill>
                <a:latin typeface="Aptos"/>
              </a:defRPr>
            </a:pPr>
            <a:r>
              <a:t>&amp; Relational Design</a:t>
            </a:r>
          </a:p>
        </p:txBody>
      </p:sp>
      <p:cxnSp>
        <p:nvCxnSpPr>
          <p:cNvPr id="4" name="Connector 3"/>
          <p:cNvCxnSpPr/>
          <p:nvPr/>
        </p:nvCxnSpPr>
        <p:spPr>
          <a:xfrm>
            <a:off x="658368" y="1371600"/>
            <a:ext cx="10844784" cy="0"/>
          </a:xfrm>
          <a:prstGeom prst="line">
            <a:avLst/>
          </a:prstGeom>
          <a:ln w="12700">
            <a:solidFill>
              <a:srgbClr val="3333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2057400"/>
            <a:ext cx="164592" cy="274320"/>
          </a:xfrm>
          <a:prstGeom prst="rect">
            <a:avLst/>
          </a:prstGeom>
          <a:noFill/>
        </p:spPr>
        <p:txBody>
          <a:bodyPr wrap="square" lIns="109728" tIns="54864" bIns="0">
            <a:spAutoFit/>
          </a:bodyPr>
          <a:lstStyle/>
          <a:p>
            <a:pPr>
              <a:spcAft>
                <a:spcPts val="900"/>
              </a:spcAft>
              <a:defRPr sz="2000" b="0">
                <a:solidFill>
                  <a:srgbClr val="0A84FF"/>
                </a:solidFill>
                <a:latin typeface="Aptos"/>
              </a:defRPr>
            </a:pPr>
            <a:r>
              <a:t>•</a:t>
            </a:r>
          </a:p>
        </p:txBody>
      </p:sp>
      <p:sp>
        <p:nvSpPr>
          <p:cNvPr id="6" name="TextBox 5"/>
          <p:cNvSpPr txBox="1"/>
          <p:nvPr/>
        </p:nvSpPr>
        <p:spPr>
          <a:xfrm>
            <a:off x="777240" y="2057400"/>
            <a:ext cx="5349240" cy="941832"/>
          </a:xfrm>
          <a:prstGeom prst="rect">
            <a:avLst/>
          </a:prstGeom>
          <a:noFill/>
        </p:spPr>
        <p:txBody>
          <a:bodyPr wrap="square" lIns="109728" tIns="54864" bIns="0">
            <a:spAutoFit/>
          </a:bodyPr>
          <a:lstStyle/>
          <a:p>
            <a:pPr>
              <a:spcAft>
                <a:spcPts val="900"/>
              </a:spcAft>
              <a:defRPr sz="2000" b="0">
                <a:solidFill>
                  <a:srgbClr val="F5F5F7"/>
                </a:solidFill>
                <a:latin typeface="Aptos"/>
              </a:defRPr>
            </a:pPr>
            <a:r>
              <a:t>Vichruth M  ·  24BCE2300</a:t>
            </a:r>
          </a:p>
        </p:txBody>
      </p:sp>
      <p:sp>
        <p:nvSpPr>
          <p:cNvPr id="7" name="TextBox 6"/>
          <p:cNvSpPr txBox="1"/>
          <p:nvPr/>
        </p:nvSpPr>
        <p:spPr>
          <a:xfrm>
            <a:off x="548640" y="3099815"/>
            <a:ext cx="164592" cy="274320"/>
          </a:xfrm>
          <a:prstGeom prst="rect">
            <a:avLst/>
          </a:prstGeom>
          <a:noFill/>
        </p:spPr>
        <p:txBody>
          <a:bodyPr wrap="square" lIns="109728" tIns="54864" bIns="0">
            <a:spAutoFit/>
          </a:bodyPr>
          <a:lstStyle/>
          <a:p>
            <a:pPr>
              <a:spcAft>
                <a:spcPts val="900"/>
              </a:spcAft>
              <a:defRPr sz="2000" b="0">
                <a:solidFill>
                  <a:srgbClr val="0A84FF"/>
                </a:solidFill>
                <a:latin typeface="Aptos"/>
              </a:defRPr>
            </a:pPr>
            <a:r>
              <a:t>•</a:t>
            </a:r>
          </a:p>
        </p:txBody>
      </p:sp>
      <p:sp>
        <p:nvSpPr>
          <p:cNvPr id="8" name="TextBox 7"/>
          <p:cNvSpPr txBox="1"/>
          <p:nvPr/>
        </p:nvSpPr>
        <p:spPr>
          <a:xfrm>
            <a:off x="777240" y="3099815"/>
            <a:ext cx="5349240" cy="941832"/>
          </a:xfrm>
          <a:prstGeom prst="rect">
            <a:avLst/>
          </a:prstGeom>
          <a:noFill/>
        </p:spPr>
        <p:txBody>
          <a:bodyPr wrap="square" lIns="109728" tIns="54864" bIns="0">
            <a:spAutoFit/>
          </a:bodyPr>
          <a:lstStyle/>
          <a:p>
            <a:pPr>
              <a:spcAft>
                <a:spcPts val="900"/>
              </a:spcAft>
              <a:defRPr sz="2000" b="0">
                <a:solidFill>
                  <a:srgbClr val="F5F5F7"/>
                </a:solidFill>
                <a:latin typeface="Aptos"/>
              </a:defRPr>
            </a:pPr>
            <a:r>
              <a:t>Database Management Systems (CSE)</a:t>
            </a:r>
          </a:p>
        </p:txBody>
      </p:sp>
      <p:sp>
        <p:nvSpPr>
          <p:cNvPr id="9" name="TextBox 8"/>
          <p:cNvSpPr txBox="1"/>
          <p:nvPr/>
        </p:nvSpPr>
        <p:spPr>
          <a:xfrm>
            <a:off x="548640" y="4142231"/>
            <a:ext cx="164592" cy="274320"/>
          </a:xfrm>
          <a:prstGeom prst="rect">
            <a:avLst/>
          </a:prstGeom>
          <a:noFill/>
        </p:spPr>
        <p:txBody>
          <a:bodyPr wrap="square" lIns="109728" tIns="54864" bIns="0">
            <a:spAutoFit/>
          </a:bodyPr>
          <a:lstStyle/>
          <a:p>
            <a:pPr>
              <a:spcAft>
                <a:spcPts val="900"/>
              </a:spcAft>
              <a:defRPr sz="2000" b="0">
                <a:solidFill>
                  <a:srgbClr val="0A84FF"/>
                </a:solidFill>
                <a:latin typeface="Aptos"/>
              </a:defRPr>
            </a:pPr>
            <a:r>
              <a:t>•</a:t>
            </a:r>
          </a:p>
        </p:txBody>
      </p:sp>
      <p:sp>
        <p:nvSpPr>
          <p:cNvPr id="10" name="TextBox 9"/>
          <p:cNvSpPr txBox="1"/>
          <p:nvPr/>
        </p:nvSpPr>
        <p:spPr>
          <a:xfrm>
            <a:off x="777240" y="4142231"/>
            <a:ext cx="5349240" cy="941832"/>
          </a:xfrm>
          <a:prstGeom prst="rect">
            <a:avLst/>
          </a:prstGeom>
          <a:noFill/>
        </p:spPr>
        <p:txBody>
          <a:bodyPr wrap="square" lIns="109728" tIns="54864" bIns="0">
            <a:spAutoFit/>
          </a:bodyPr>
          <a:lstStyle/>
          <a:p>
            <a:pPr>
              <a:spcAft>
                <a:spcPts val="900"/>
              </a:spcAft>
              <a:defRPr sz="2000" b="0">
                <a:solidFill>
                  <a:srgbClr val="F5F5F7"/>
                </a:solidFill>
                <a:latin typeface="Aptos"/>
              </a:defRPr>
            </a:pPr>
            <a:r>
              <a:t>SCOPE, VIT Vellore</a:t>
            </a:r>
          </a:p>
        </p:txBody>
      </p:sp>
      <p:sp>
        <p:nvSpPr>
          <p:cNvPr id="11" name="TextBox 10"/>
          <p:cNvSpPr txBox="1"/>
          <p:nvPr/>
        </p:nvSpPr>
        <p:spPr>
          <a:xfrm>
            <a:off x="548640" y="5184647"/>
            <a:ext cx="164592" cy="274320"/>
          </a:xfrm>
          <a:prstGeom prst="rect">
            <a:avLst/>
          </a:prstGeom>
          <a:noFill/>
        </p:spPr>
        <p:txBody>
          <a:bodyPr wrap="square" lIns="109728" tIns="54864" bIns="0">
            <a:spAutoFit/>
          </a:bodyPr>
          <a:lstStyle/>
          <a:p>
            <a:pPr>
              <a:spcAft>
                <a:spcPts val="900"/>
              </a:spcAft>
              <a:defRPr sz="2000" b="0">
                <a:solidFill>
                  <a:srgbClr val="0A84FF"/>
                </a:solidFill>
                <a:latin typeface="Aptos"/>
              </a:defRPr>
            </a:pPr>
            <a:r>
              <a:t>•</a:t>
            </a:r>
          </a:p>
        </p:txBody>
      </p:sp>
      <p:sp>
        <p:nvSpPr>
          <p:cNvPr id="12" name="TextBox 11"/>
          <p:cNvSpPr txBox="1"/>
          <p:nvPr/>
        </p:nvSpPr>
        <p:spPr>
          <a:xfrm>
            <a:off x="777240" y="5184647"/>
            <a:ext cx="5349240" cy="941832"/>
          </a:xfrm>
          <a:prstGeom prst="rect">
            <a:avLst/>
          </a:prstGeom>
          <a:noFill/>
        </p:spPr>
        <p:txBody>
          <a:bodyPr wrap="square" lIns="109728" tIns="54864" bIns="0">
            <a:spAutoFit/>
          </a:bodyPr>
          <a:lstStyle/>
          <a:p>
            <a:pPr>
              <a:spcAft>
                <a:spcPts val="900"/>
              </a:spcAft>
              <a:defRPr sz="2000" b="0">
                <a:solidFill>
                  <a:srgbClr val="F5F5F7"/>
                </a:solidFill>
                <a:latin typeface="Aptos"/>
              </a:defRPr>
            </a:pPr>
            <a:r>
              <a:t>Problem identification, requirements, EER construction and relational mapping.</a:t>
            </a:r>
          </a:p>
        </p:txBody>
      </p:sp>
      <p:sp>
        <p:nvSpPr>
          <p:cNvPr id="13" name="Rectangle 12"/>
          <p:cNvSpPr/>
          <p:nvPr/>
        </p:nvSpPr>
        <p:spPr>
          <a:xfrm>
            <a:off x="6492240" y="1664208"/>
            <a:ext cx="4983480" cy="4462272"/>
          </a:xfrm>
          <a:prstGeom prst="rect">
            <a:avLst/>
          </a:prstGeom>
          <a:solidFill>
            <a:srgbClr val="1C1C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0"/>
          <a:lstStyle/>
          <a:p>
            <a:pPr algn="ctr">
              <a:spcAft>
                <a:spcPts val="900"/>
              </a:spcAft>
              <a:defRPr sz="1700" b="0">
                <a:solidFill>
                  <a:srgbClr val="F5F5F7"/>
                </a:solidFill>
                <a:latin typeface="Consolas"/>
              </a:defRPr>
            </a:pPr>
            <a:r>
              <a:t>-- Logical deployment contract</a:t>
            </a:r>
          </a:p>
          <a:p>
            <a:pPr>
              <a:spcAft>
                <a:spcPts val="900"/>
              </a:spcAft>
              <a:defRPr sz="1700" b="0">
                <a:solidFill>
                  <a:srgbClr val="F5F5F7"/>
                </a:solidFill>
                <a:latin typeface="Consolas"/>
              </a:defRPr>
            </a:pPr>
            <a:r>
              <a:t>-- Edge: SQLite 3 operation log</a:t>
            </a:r>
          </a:p>
          <a:p>
            <a:pPr>
              <a:spcAft>
                <a:spcPts val="900"/>
              </a:spcAft>
              <a:defRPr sz="1700" b="0">
                <a:solidFill>
                  <a:srgbClr val="F5F5F7"/>
                </a:solidFill>
                <a:latin typeface="Consolas"/>
              </a:defRPr>
            </a:pPr>
            <a:r>
              <a:t>-- Cloud: PostgreSQL 16</a:t>
            </a:r>
          </a:p>
          <a:p>
            <a:pPr>
              <a:spcAft>
                <a:spcPts val="900"/>
              </a:spcAft>
              <a:defRPr sz="1700" b="0">
                <a:solidFill>
                  <a:srgbClr val="F5F5F7"/>
                </a:solidFill>
                <a:latin typeface="Consolas"/>
              </a:defRPr>
            </a:pPr>
            <a:r>
              <a:t>-- Local writes survive disconnection</a:t>
            </a:r>
          </a:p>
        </p:txBody>
      </p:sp>
      <p:sp>
        <p:nvSpPr>
          <p:cNvPr id="14" name="TextBox 13"/>
          <p:cNvSpPr txBox="1"/>
          <p:nvPr/>
        </p:nvSpPr>
        <p:spPr>
          <a:xfrm>
            <a:off x="594360" y="6437376"/>
            <a:ext cx="9144000" cy="228600"/>
          </a:xfrm>
          <a:prstGeom prst="rect">
            <a:avLst/>
          </a:prstGeom>
          <a:noFill/>
        </p:spPr>
        <p:txBody>
          <a:bodyPr wrap="square" lIns="109728" tIns="54864" bIns="0">
            <a:spAutoFit/>
          </a:bodyPr>
          <a:lstStyle/>
          <a:p>
            <a:pPr>
              <a:spcAft>
                <a:spcPts val="900"/>
              </a:spcAft>
              <a:defRPr sz="1000" b="0">
                <a:solidFill>
                  <a:srgbClr val="A9ABB4"/>
                </a:solidFill>
                <a:latin typeface="Aptos"/>
              </a:defRPr>
            </a:pPr>
            <a:r>
              <a:t>Vichruth M  ·  24BCE2300  ·  DBMS  ·  VIT Vellore</a:t>
            </a:r>
          </a:p>
        </p:txBody>
      </p:sp>
      <p:sp>
        <p:nvSpPr>
          <p:cNvPr id="15" name="TextBox 14"/>
          <p:cNvSpPr txBox="1"/>
          <p:nvPr/>
        </p:nvSpPr>
        <p:spPr>
          <a:xfrm>
            <a:off x="10652760" y="6391656"/>
            <a:ext cx="914400" cy="292608"/>
          </a:xfrm>
          <a:prstGeom prst="rect">
            <a:avLst/>
          </a:prstGeom>
          <a:noFill/>
        </p:spPr>
        <p:txBody>
          <a:bodyPr wrap="square" lIns="109728" tIns="54864" bIns="0">
            <a:spAutoFit/>
          </a:bodyPr>
          <a:lstStyle/>
          <a:p>
            <a:pPr>
              <a:spcAft>
                <a:spcPts val="900"/>
              </a:spcAft>
              <a:defRPr sz="1100" b="0">
                <a:solidFill>
                  <a:srgbClr val="A9ABB4"/>
                </a:solidFill>
                <a:latin typeface="Aptos"/>
              </a:defRPr>
            </a:pPr>
            <a:r>
              <a:t>01 / 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113"/>
        </a:solidFill>
        <a:effectLst/>
      </p:bgPr>
    </p:bg>
    <p:spTree>
      <p:nvGrpSpPr>
        <p:cNvPr id="1" name=""/>
        <p:cNvGrpSpPr/>
        <p:nvPr/>
      </p:nvGrpSpPr>
      <p:grpSpPr/>
      <p:sp>
        <p:nvSpPr>
          <p:cNvPr id="2" name="TextBox 1"/>
          <p:cNvSpPr txBox="1"/>
          <p:nvPr/>
        </p:nvSpPr>
        <p:spPr>
          <a:xfrm>
            <a:off x="548640" y="256032"/>
            <a:ext cx="10789920" cy="320040"/>
          </a:xfrm>
          <a:prstGeom prst="rect">
            <a:avLst/>
          </a:prstGeom>
          <a:noFill/>
        </p:spPr>
        <p:txBody>
          <a:bodyPr wrap="square" lIns="109728" tIns="54864" bIns="0">
            <a:spAutoFit/>
          </a:bodyPr>
          <a:lstStyle/>
          <a:p>
            <a:pPr>
              <a:spcAft>
                <a:spcPts val="900"/>
              </a:spcAft>
              <a:defRPr sz="1200" b="1">
                <a:solidFill>
                  <a:srgbClr val="0A84FF"/>
                </a:solidFill>
                <a:latin typeface="Aptos"/>
              </a:defRPr>
            </a:pPr>
            <a:r>
              <a:t>PROBLEM IDENTIFICATION</a:t>
            </a:r>
          </a:p>
        </p:txBody>
      </p:sp>
      <p:sp>
        <p:nvSpPr>
          <p:cNvPr id="3" name="TextBox 2"/>
          <p:cNvSpPr txBox="1"/>
          <p:nvPr/>
        </p:nvSpPr>
        <p:spPr>
          <a:xfrm>
            <a:off x="548640" y="704088"/>
            <a:ext cx="11064240" cy="914400"/>
          </a:xfrm>
          <a:prstGeom prst="rect">
            <a:avLst/>
          </a:prstGeom>
          <a:noFill/>
        </p:spPr>
        <p:txBody>
          <a:bodyPr wrap="square" lIns="109728" tIns="54864" bIns="0">
            <a:spAutoFit/>
          </a:bodyPr>
          <a:lstStyle/>
          <a:p>
            <a:pPr>
              <a:spcAft>
                <a:spcPts val="900"/>
              </a:spcAft>
              <a:defRPr sz="2600" b="1">
                <a:solidFill>
                  <a:srgbClr val="F5F5F7"/>
                </a:solidFill>
                <a:latin typeface="Aptos"/>
              </a:defRPr>
            </a:pPr>
            <a:r>
              <a:t>Disconnected devices create conflicting histories</a:t>
            </a:r>
          </a:p>
        </p:txBody>
      </p:sp>
      <p:cxnSp>
        <p:nvCxnSpPr>
          <p:cNvPr id="4" name="Connector 3"/>
          <p:cNvCxnSpPr/>
          <p:nvPr/>
        </p:nvCxnSpPr>
        <p:spPr>
          <a:xfrm>
            <a:off x="658368" y="1371600"/>
            <a:ext cx="10844784" cy="0"/>
          </a:xfrm>
          <a:prstGeom prst="line">
            <a:avLst/>
          </a:prstGeom>
          <a:ln w="12700">
            <a:solidFill>
              <a:srgbClr val="3333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91640"/>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6" name="TextBox 5"/>
          <p:cNvSpPr txBox="1"/>
          <p:nvPr/>
        </p:nvSpPr>
        <p:spPr>
          <a:xfrm>
            <a:off x="777240" y="1691640"/>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Lost update: phone and laptop read expense v4 = ₹500. Phone proposes ₹550, laptop proposes ₹600.</a:t>
            </a:r>
          </a:p>
        </p:txBody>
      </p:sp>
      <p:sp>
        <p:nvSpPr>
          <p:cNvPr id="7" name="TextBox 6"/>
          <p:cNvSpPr txBox="1"/>
          <p:nvPr/>
        </p:nvSpPr>
        <p:spPr>
          <a:xfrm>
            <a:off x="548640" y="2734056"/>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8" name="TextBox 7"/>
          <p:cNvSpPr txBox="1"/>
          <p:nvPr/>
        </p:nvSpPr>
        <p:spPr>
          <a:xfrm>
            <a:off x="777240" y="2734056"/>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Blind overwrite on reconnect hides one accepted edit. Retain base_version and test it at commit.</a:t>
            </a:r>
          </a:p>
        </p:txBody>
      </p:sp>
      <p:sp>
        <p:nvSpPr>
          <p:cNvPr id="9" name="TextBox 8"/>
          <p:cNvSpPr txBox="1"/>
          <p:nvPr/>
        </p:nvSpPr>
        <p:spPr>
          <a:xfrm>
            <a:off x="548640" y="3776472"/>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10" name="TextBox 9"/>
          <p:cNvSpPr txBox="1"/>
          <p:nvPr/>
        </p:nvSpPr>
        <p:spPr>
          <a:xfrm>
            <a:off x="777240" y="3776472"/>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Phone and watch may observe the same walk. Device identity preserves provenance, not semantic deduplication.</a:t>
            </a:r>
          </a:p>
        </p:txBody>
      </p:sp>
      <p:sp>
        <p:nvSpPr>
          <p:cNvPr id="11" name="TextBox 10"/>
          <p:cNvSpPr txBox="1"/>
          <p:nvPr/>
        </p:nvSpPr>
        <p:spPr>
          <a:xfrm>
            <a:off x="548640" y="4818888"/>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12" name="TextBox 11"/>
          <p:cNvSpPr txBox="1"/>
          <p:nvPr/>
        </p:nvSpPr>
        <p:spPr>
          <a:xfrm>
            <a:off x="777240" y="4818888"/>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Requirements: durable offline writes, stable operation identity, retry-safe batches and auditable conflicts.</a:t>
            </a:r>
          </a:p>
        </p:txBody>
      </p:sp>
      <p:sp>
        <p:nvSpPr>
          <p:cNvPr id="13" name="Rectangle 12"/>
          <p:cNvSpPr/>
          <p:nvPr/>
        </p:nvSpPr>
        <p:spPr>
          <a:xfrm>
            <a:off x="6492240" y="1664208"/>
            <a:ext cx="4983480" cy="4462272"/>
          </a:xfrm>
          <a:prstGeom prst="rect">
            <a:avLst/>
          </a:prstGeom>
          <a:solidFill>
            <a:srgbClr val="1C1C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0"/>
          <a:lstStyle/>
          <a:p>
            <a:pPr algn="ctr">
              <a:spcAft>
                <a:spcPts val="900"/>
              </a:spcAft>
              <a:defRPr sz="1700" b="0">
                <a:solidFill>
                  <a:srgbClr val="F5F5F7"/>
                </a:solidFill>
                <a:latin typeface="Consolas"/>
              </a:defRPr>
            </a:pPr>
            <a:r>
              <a:t>-- Compare-and-swap proposal</a:t>
            </a:r>
          </a:p>
          <a:p>
            <a:pPr>
              <a:spcAft>
                <a:spcPts val="900"/>
              </a:spcAft>
              <a:defRPr sz="1700" b="0">
                <a:solidFill>
                  <a:srgbClr val="F5F5F7"/>
                </a:solidFill>
                <a:latin typeface="Consolas"/>
              </a:defRPr>
            </a:pPr>
            <a:r>
              <a:t>UPDATE expense</a:t>
            </a:r>
          </a:p>
          <a:p>
            <a:pPr>
              <a:spcAft>
                <a:spcPts val="900"/>
              </a:spcAft>
              <a:defRPr sz="1700" b="0">
                <a:solidFill>
                  <a:srgbClr val="F5F5F7"/>
                </a:solidFill>
                <a:latin typeface="Consolas"/>
              </a:defRPr>
            </a:pPr>
            <a:r>
              <a:t>SET amount = 550, version = 5</a:t>
            </a:r>
          </a:p>
          <a:p>
            <a:pPr>
              <a:spcAft>
                <a:spcPts val="900"/>
              </a:spcAft>
              <a:defRPr sz="1700" b="0">
                <a:solidFill>
                  <a:srgbClr val="F5F5F7"/>
                </a:solidFill>
                <a:latin typeface="Consolas"/>
              </a:defRPr>
            </a:pPr>
            <a:r>
              <a:t>WHERE expense_id = :id</a:t>
            </a:r>
          </a:p>
          <a:p>
            <a:pPr>
              <a:spcAft>
                <a:spcPts val="900"/>
              </a:spcAft>
              <a:defRPr sz="1700" b="0">
                <a:solidFill>
                  <a:srgbClr val="F5F5F7"/>
                </a:solidFill>
                <a:latin typeface="Consolas"/>
              </a:defRPr>
            </a:pPr>
            <a:r>
              <a:t>  AND version = 4</a:t>
            </a:r>
          </a:p>
          <a:p>
            <a:pPr>
              <a:spcAft>
                <a:spcPts val="900"/>
              </a:spcAft>
              <a:defRPr sz="1700" b="0">
                <a:solidFill>
                  <a:srgbClr val="F5F5F7"/>
                </a:solidFill>
                <a:latin typeface="Consolas"/>
              </a:defRPr>
            </a:pPr>
            <a:r>
              <a:t>RETURNING version;</a:t>
            </a:r>
          </a:p>
          <a:p>
            <a:pPr>
              <a:spcAft>
                <a:spcPts val="900"/>
              </a:spcAft>
              <a:defRPr sz="1700" b="0">
                <a:solidFill>
                  <a:srgbClr val="F5F5F7"/>
                </a:solidFill>
                <a:latin typeface="Consolas"/>
              </a:defRPr>
            </a:pPr>
            <a:r>
              <a:t>-- 0 rows: stale base version</a:t>
            </a:r>
          </a:p>
          <a:p>
            <a:pPr>
              <a:spcAft>
                <a:spcPts val="900"/>
              </a:spcAft>
              <a:defRPr sz="1700" b="0">
                <a:solidFill>
                  <a:srgbClr val="F5F5F7"/>
                </a:solidFill>
                <a:latin typeface="Consolas"/>
              </a:defRPr>
            </a:pPr>
            <a:r>
              <a:t>-- record conflict, do not overwrite</a:t>
            </a:r>
          </a:p>
        </p:txBody>
      </p:sp>
      <p:sp>
        <p:nvSpPr>
          <p:cNvPr id="14" name="TextBox 13"/>
          <p:cNvSpPr txBox="1"/>
          <p:nvPr/>
        </p:nvSpPr>
        <p:spPr>
          <a:xfrm>
            <a:off x="594360" y="6437376"/>
            <a:ext cx="9144000" cy="228600"/>
          </a:xfrm>
          <a:prstGeom prst="rect">
            <a:avLst/>
          </a:prstGeom>
          <a:noFill/>
        </p:spPr>
        <p:txBody>
          <a:bodyPr wrap="square" lIns="109728" tIns="54864" bIns="0">
            <a:spAutoFit/>
          </a:bodyPr>
          <a:lstStyle/>
          <a:p>
            <a:pPr>
              <a:spcAft>
                <a:spcPts val="900"/>
              </a:spcAft>
              <a:defRPr sz="1000" b="0">
                <a:solidFill>
                  <a:srgbClr val="A9ABB4"/>
                </a:solidFill>
                <a:latin typeface="Aptos"/>
              </a:defRPr>
            </a:pPr>
            <a:r>
              <a:t>Vichruth M  ·  24BCE2300  ·  DBMS  ·  VIT Vellore</a:t>
            </a:r>
          </a:p>
        </p:txBody>
      </p:sp>
      <p:sp>
        <p:nvSpPr>
          <p:cNvPr id="15" name="TextBox 14"/>
          <p:cNvSpPr txBox="1"/>
          <p:nvPr/>
        </p:nvSpPr>
        <p:spPr>
          <a:xfrm>
            <a:off x="10652760" y="6391656"/>
            <a:ext cx="914400" cy="292608"/>
          </a:xfrm>
          <a:prstGeom prst="rect">
            <a:avLst/>
          </a:prstGeom>
          <a:noFill/>
        </p:spPr>
        <p:txBody>
          <a:bodyPr wrap="square" lIns="109728" tIns="54864" bIns="0">
            <a:spAutoFit/>
          </a:bodyPr>
          <a:lstStyle/>
          <a:p>
            <a:pPr>
              <a:spcAft>
                <a:spcPts val="900"/>
              </a:spcAft>
              <a:defRPr sz="1100" b="0">
                <a:solidFill>
                  <a:srgbClr val="A9ABB4"/>
                </a:solidFill>
                <a:latin typeface="Aptos"/>
              </a:defRPr>
            </a:pPr>
            <a:r>
              <a:t>02 / 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113"/>
        </a:solidFill>
        <a:effectLst/>
      </p:bgPr>
    </p:bg>
    <p:spTree>
      <p:nvGrpSpPr>
        <p:cNvPr id="1" name=""/>
        <p:cNvGrpSpPr/>
        <p:nvPr/>
      </p:nvGrpSpPr>
      <p:grpSpPr/>
      <p:sp>
        <p:nvSpPr>
          <p:cNvPr id="2" name="TextBox 1"/>
          <p:cNvSpPr txBox="1"/>
          <p:nvPr/>
        </p:nvSpPr>
        <p:spPr>
          <a:xfrm>
            <a:off x="548640" y="256032"/>
            <a:ext cx="10789920" cy="320040"/>
          </a:xfrm>
          <a:prstGeom prst="rect">
            <a:avLst/>
          </a:prstGeom>
          <a:noFill/>
        </p:spPr>
        <p:txBody>
          <a:bodyPr wrap="square" lIns="109728" tIns="54864" bIns="0">
            <a:spAutoFit/>
          </a:bodyPr>
          <a:lstStyle/>
          <a:p>
            <a:pPr>
              <a:spcAft>
                <a:spcPts val="900"/>
              </a:spcAft>
              <a:defRPr sz="1200" b="1">
                <a:solidFill>
                  <a:srgbClr val="0A84FF"/>
                </a:solidFill>
                <a:latin typeface="Aptos"/>
              </a:defRPr>
            </a:pPr>
            <a:r>
              <a:t>REQUIREMENT ANALYSIS</a:t>
            </a:r>
          </a:p>
        </p:txBody>
      </p:sp>
      <p:sp>
        <p:nvSpPr>
          <p:cNvPr id="3" name="TextBox 2"/>
          <p:cNvSpPr txBox="1"/>
          <p:nvPr/>
        </p:nvSpPr>
        <p:spPr>
          <a:xfrm>
            <a:off x="548640" y="704088"/>
            <a:ext cx="11064240" cy="914400"/>
          </a:xfrm>
          <a:prstGeom prst="rect">
            <a:avLst/>
          </a:prstGeom>
          <a:noFill/>
        </p:spPr>
        <p:txBody>
          <a:bodyPr wrap="square" lIns="109728" tIns="54864" bIns="0">
            <a:spAutoFit/>
          </a:bodyPr>
          <a:lstStyle/>
          <a:p>
            <a:pPr>
              <a:spcAft>
                <a:spcPts val="900"/>
              </a:spcAft>
              <a:defRPr sz="2600" b="1">
                <a:solidFill>
                  <a:srgbClr val="F5F5F7"/>
                </a:solidFill>
                <a:latin typeface="Aptos"/>
              </a:defRPr>
            </a:pPr>
            <a:r>
              <a:t>Deployment assumptions and measurable requirements</a:t>
            </a:r>
          </a:p>
        </p:txBody>
      </p:sp>
      <p:cxnSp>
        <p:nvCxnSpPr>
          <p:cNvPr id="4" name="Connector 3"/>
          <p:cNvCxnSpPr/>
          <p:nvPr/>
        </p:nvCxnSpPr>
        <p:spPr>
          <a:xfrm>
            <a:off x="658368" y="1371600"/>
            <a:ext cx="10844784" cy="0"/>
          </a:xfrm>
          <a:prstGeom prst="line">
            <a:avLst/>
          </a:prstGeom>
          <a:ln w="12700">
            <a:solidFill>
              <a:srgbClr val="3333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91640"/>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6" name="TextBox 5"/>
          <p:cNvSpPr txBox="1"/>
          <p:nvPr/>
        </p:nvSpPr>
        <p:spPr>
          <a:xfrm>
            <a:off x="777240" y="1691640"/>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Nothing Phone: Android 14 / Nothing OS, pocket pedometer and mobile expense entry.</a:t>
            </a:r>
          </a:p>
        </p:txBody>
      </p:sp>
      <p:sp>
        <p:nvSpPr>
          <p:cNvPr id="7" name="TextBox 6"/>
          <p:cNvSpPr txBox="1"/>
          <p:nvPr/>
        </p:nvSpPr>
        <p:spPr>
          <a:xfrm>
            <a:off x="548640" y="2734056"/>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8" name="TextBox 7"/>
          <p:cNvSpPr txBox="1"/>
          <p:nvPr/>
        </p:nvSpPr>
        <p:spPr>
          <a:xfrm>
            <a:off x="777240" y="2734056"/>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Lenovo LOQ: Windows 11 or Linux, desktop writes and a local analytical cache.</a:t>
            </a:r>
          </a:p>
        </p:txBody>
      </p:sp>
      <p:sp>
        <p:nvSpPr>
          <p:cNvPr id="9" name="TextBox 8"/>
          <p:cNvSpPr txBox="1"/>
          <p:nvPr/>
        </p:nvSpPr>
        <p:spPr>
          <a:xfrm>
            <a:off x="548640" y="3776472"/>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10" name="TextBox 9"/>
          <p:cNvSpPr txBox="1"/>
          <p:nvPr/>
        </p:nvSpPr>
        <p:spPr>
          <a:xfrm>
            <a:off x="777240" y="3776472"/>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CMF Watch Pro 2: wrist observations imported through a supported companion / Health Connect path.</a:t>
            </a:r>
          </a:p>
        </p:txBody>
      </p:sp>
      <p:sp>
        <p:nvSpPr>
          <p:cNvPr id="11" name="TextBox 10"/>
          <p:cNvSpPr txBox="1"/>
          <p:nvPr/>
        </p:nvSpPr>
        <p:spPr>
          <a:xfrm>
            <a:off x="548640" y="4818888"/>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12" name="TextBox 11"/>
          <p:cNvSpPr txBox="1"/>
          <p:nvPr/>
        </p:nvSpPr>
        <p:spPr>
          <a:xfrm>
            <a:off x="777240" y="4818888"/>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SQLite edge log: append-only operations. PostgreSQL 16: validated current state, views and conflict records.</a:t>
            </a:r>
          </a:p>
        </p:txBody>
      </p:sp>
      <p:sp>
        <p:nvSpPr>
          <p:cNvPr id="13" name="Rectangle 12"/>
          <p:cNvSpPr/>
          <p:nvPr/>
        </p:nvSpPr>
        <p:spPr>
          <a:xfrm>
            <a:off x="6492240" y="1664208"/>
            <a:ext cx="4983480" cy="4462272"/>
          </a:xfrm>
          <a:prstGeom prst="rect">
            <a:avLst/>
          </a:prstGeom>
          <a:solidFill>
            <a:srgbClr val="1C1C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0"/>
          <a:lstStyle/>
          <a:p>
            <a:pPr algn="ctr">
              <a:spcAft>
                <a:spcPts val="900"/>
              </a:spcAft>
              <a:defRPr sz="1700" b="0">
                <a:solidFill>
                  <a:srgbClr val="F5F5F7"/>
                </a:solidFill>
                <a:latin typeface="Consolas"/>
              </a:defRPr>
            </a:pPr>
            <a:r>
              <a:t>-- SQLite 3: logical outbox sketch</a:t>
            </a:r>
          </a:p>
          <a:p>
            <a:pPr>
              <a:spcAft>
                <a:spcPts val="900"/>
              </a:spcAft>
              <a:defRPr sz="1700" b="0">
                <a:solidFill>
                  <a:srgbClr val="F5F5F7"/>
                </a:solidFill>
                <a:latin typeface="Consolas"/>
              </a:defRPr>
            </a:pPr>
            <a:r>
              <a:t>CREATE TABLE local_operation (</a:t>
            </a:r>
          </a:p>
          <a:p>
            <a:pPr>
              <a:spcAft>
                <a:spcPts val="900"/>
              </a:spcAft>
              <a:defRPr sz="1700" b="0">
                <a:solidFill>
                  <a:srgbClr val="F5F5F7"/>
                </a:solidFill>
                <a:latin typeface="Consolas"/>
              </a:defRPr>
            </a:pPr>
            <a:r>
              <a:t> op_id TEXT PRIMARY KEY,</a:t>
            </a:r>
          </a:p>
          <a:p>
            <a:pPr>
              <a:spcAft>
                <a:spcPts val="900"/>
              </a:spcAft>
              <a:defRPr sz="1700" b="0">
                <a:solidFill>
                  <a:srgbClr val="F5F5F7"/>
                </a:solidFill>
                <a:latin typeface="Consolas"/>
              </a:defRPr>
            </a:pPr>
            <a:r>
              <a:t> entity_id TEXT NOT NULL,</a:t>
            </a:r>
          </a:p>
          <a:p>
            <a:pPr>
              <a:spcAft>
                <a:spcPts val="900"/>
              </a:spcAft>
              <a:defRPr sz="1700" b="0">
                <a:solidFill>
                  <a:srgbClr val="F5F5F7"/>
                </a:solidFill>
                <a:latin typeface="Consolas"/>
              </a:defRPr>
            </a:pPr>
            <a:r>
              <a:t> base_version INTEGER NOT NULL,</a:t>
            </a:r>
          </a:p>
          <a:p>
            <a:pPr>
              <a:spcAft>
                <a:spcPts val="900"/>
              </a:spcAft>
              <a:defRPr sz="1700" b="0">
                <a:solidFill>
                  <a:srgbClr val="F5F5F7"/>
                </a:solidFill>
                <a:latin typeface="Consolas"/>
              </a:defRPr>
            </a:pPr>
            <a:r>
              <a:t> payload TEXT NOT NULL,</a:t>
            </a:r>
          </a:p>
          <a:p>
            <a:pPr>
              <a:spcAft>
                <a:spcPts val="900"/>
              </a:spcAft>
              <a:defRPr sz="1700" b="0">
                <a:solidFill>
                  <a:srgbClr val="F5F5F7"/>
                </a:solidFill>
                <a:latin typeface="Consolas"/>
              </a:defRPr>
            </a:pPr>
            <a:r>
              <a:t> event_time TEXT NOT NULL</a:t>
            </a:r>
          </a:p>
          <a:p>
            <a:pPr>
              <a:spcAft>
                <a:spcPts val="900"/>
              </a:spcAft>
              <a:defRPr sz="1700" b="0">
                <a:solidFill>
                  <a:srgbClr val="F5F5F7"/>
                </a:solidFill>
                <a:latin typeface="Consolas"/>
              </a:defRPr>
            </a:pPr>
            <a:r>
              <a:t>);</a:t>
            </a:r>
          </a:p>
        </p:txBody>
      </p:sp>
      <p:sp>
        <p:nvSpPr>
          <p:cNvPr id="14" name="TextBox 13"/>
          <p:cNvSpPr txBox="1"/>
          <p:nvPr/>
        </p:nvSpPr>
        <p:spPr>
          <a:xfrm>
            <a:off x="594360" y="6437376"/>
            <a:ext cx="9144000" cy="228600"/>
          </a:xfrm>
          <a:prstGeom prst="rect">
            <a:avLst/>
          </a:prstGeom>
          <a:noFill/>
        </p:spPr>
        <p:txBody>
          <a:bodyPr wrap="square" lIns="109728" tIns="54864" bIns="0">
            <a:spAutoFit/>
          </a:bodyPr>
          <a:lstStyle/>
          <a:p>
            <a:pPr>
              <a:spcAft>
                <a:spcPts val="900"/>
              </a:spcAft>
              <a:defRPr sz="1000" b="0">
                <a:solidFill>
                  <a:srgbClr val="A9ABB4"/>
                </a:solidFill>
                <a:latin typeface="Aptos"/>
              </a:defRPr>
            </a:pPr>
            <a:r>
              <a:t>Vichruth M  ·  24BCE2300  ·  DBMS  ·  VIT Vellore</a:t>
            </a:r>
          </a:p>
        </p:txBody>
      </p:sp>
      <p:sp>
        <p:nvSpPr>
          <p:cNvPr id="15" name="TextBox 14"/>
          <p:cNvSpPr txBox="1"/>
          <p:nvPr/>
        </p:nvSpPr>
        <p:spPr>
          <a:xfrm>
            <a:off x="10652760" y="6391656"/>
            <a:ext cx="914400" cy="292608"/>
          </a:xfrm>
          <a:prstGeom prst="rect">
            <a:avLst/>
          </a:prstGeom>
          <a:noFill/>
        </p:spPr>
        <p:txBody>
          <a:bodyPr wrap="square" lIns="109728" tIns="54864" bIns="0">
            <a:spAutoFit/>
          </a:bodyPr>
          <a:lstStyle/>
          <a:p>
            <a:pPr>
              <a:spcAft>
                <a:spcPts val="900"/>
              </a:spcAft>
              <a:defRPr sz="1100" b="0">
                <a:solidFill>
                  <a:srgbClr val="A9ABB4"/>
                </a:solidFill>
                <a:latin typeface="Aptos"/>
              </a:defRPr>
            </a:pPr>
            <a:r>
              <a:t>03 / 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1113"/>
        </a:solidFill>
        <a:effectLst/>
      </p:bgPr>
    </p:bg>
    <p:spTree>
      <p:nvGrpSpPr>
        <p:cNvPr id="1" name=""/>
        <p:cNvGrpSpPr/>
        <p:nvPr/>
      </p:nvGrpSpPr>
      <p:grpSpPr/>
      <p:sp>
        <p:nvSpPr>
          <p:cNvPr id="2" name="TextBox 1"/>
          <p:cNvSpPr txBox="1"/>
          <p:nvPr/>
        </p:nvSpPr>
        <p:spPr>
          <a:xfrm>
            <a:off x="548640" y="256032"/>
            <a:ext cx="10789920" cy="320040"/>
          </a:xfrm>
          <a:prstGeom prst="rect">
            <a:avLst/>
          </a:prstGeom>
          <a:noFill/>
        </p:spPr>
        <p:txBody>
          <a:bodyPr wrap="square" lIns="109728" tIns="54864" bIns="0">
            <a:spAutoFit/>
          </a:bodyPr>
          <a:lstStyle/>
          <a:p>
            <a:pPr>
              <a:spcAft>
                <a:spcPts val="900"/>
              </a:spcAft>
              <a:defRPr sz="1200" b="1">
                <a:solidFill>
                  <a:srgbClr val="0A84FF"/>
                </a:solidFill>
                <a:latin typeface="Aptos"/>
              </a:defRPr>
            </a:pPr>
            <a:r>
              <a:t>CONCEPTUAL EER MODEL</a:t>
            </a:r>
          </a:p>
        </p:txBody>
      </p:sp>
      <p:sp>
        <p:nvSpPr>
          <p:cNvPr id="3" name="TextBox 2"/>
          <p:cNvSpPr txBox="1"/>
          <p:nvPr/>
        </p:nvSpPr>
        <p:spPr>
          <a:xfrm>
            <a:off x="548640" y="704088"/>
            <a:ext cx="11064240" cy="914400"/>
          </a:xfrm>
          <a:prstGeom prst="rect">
            <a:avLst/>
          </a:prstGeom>
          <a:noFill/>
        </p:spPr>
        <p:txBody>
          <a:bodyPr wrap="square" lIns="109728" tIns="54864" bIns="0">
            <a:spAutoFit/>
          </a:bodyPr>
          <a:lstStyle/>
          <a:p>
            <a:pPr>
              <a:spcAft>
                <a:spcPts val="900"/>
              </a:spcAft>
              <a:defRPr sz="2600" b="1">
                <a:solidFill>
                  <a:srgbClr val="F5F5F7"/>
                </a:solidFill>
                <a:latin typeface="Aptos"/>
              </a:defRPr>
            </a:pPr>
            <a:r>
              <a:t>Device specialization is disjoint and total</a:t>
            </a:r>
          </a:p>
        </p:txBody>
      </p:sp>
      <p:cxnSp>
        <p:nvCxnSpPr>
          <p:cNvPr id="4" name="Connector 3"/>
          <p:cNvCxnSpPr/>
          <p:nvPr/>
        </p:nvCxnSpPr>
        <p:spPr>
          <a:xfrm>
            <a:off x="658368" y="1371600"/>
            <a:ext cx="10844784" cy="0"/>
          </a:xfrm>
          <a:prstGeom prst="line">
            <a:avLst/>
          </a:prstGeom>
          <a:ln w="12700">
            <a:solidFill>
              <a:srgbClr val="3333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416552" y="1600200"/>
            <a:ext cx="3337560" cy="667512"/>
          </a:xfrm>
          <a:prstGeom prst="rect">
            <a:avLst/>
          </a:prstGeom>
          <a:solidFill>
            <a:srgbClr val="1C1C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0"/>
          <a:lstStyle/>
          <a:p>
            <a:pPr algn="ctr">
              <a:spcAft>
                <a:spcPts val="900"/>
              </a:spcAft>
              <a:defRPr sz="2200" b="1">
                <a:solidFill>
                  <a:srgbClr val="F5F5F7"/>
                </a:solidFill>
                <a:latin typeface="Aptos"/>
              </a:defRPr>
            </a:pPr>
            <a:r>
              <a:t>DEVICE  [device_id PK]</a:t>
            </a:r>
          </a:p>
        </p:txBody>
      </p:sp>
      <p:cxnSp>
        <p:nvCxnSpPr>
          <p:cNvPr id="6" name="Connector 5"/>
          <p:cNvCxnSpPr/>
          <p:nvPr/>
        </p:nvCxnSpPr>
        <p:spPr>
          <a:xfrm>
            <a:off x="6035040" y="2267712"/>
            <a:ext cx="0" cy="411480"/>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144768" y="2267712"/>
            <a:ext cx="0" cy="411480"/>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5815584" y="2679192"/>
            <a:ext cx="548640" cy="548640"/>
          </a:xfrm>
          <a:prstGeom prst="ellipse">
            <a:avLst/>
          </a:prstGeom>
          <a:solidFill>
            <a:srgbClr val="111113"/>
          </a:solidFill>
          <a:ln>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07024" y="2715768"/>
            <a:ext cx="365760" cy="365760"/>
          </a:xfrm>
          <a:prstGeom prst="rect">
            <a:avLst/>
          </a:prstGeom>
          <a:noFill/>
        </p:spPr>
        <p:txBody>
          <a:bodyPr wrap="square" lIns="109728" tIns="54864" bIns="0">
            <a:spAutoFit/>
          </a:bodyPr>
          <a:lstStyle/>
          <a:p>
            <a:pPr>
              <a:spcAft>
                <a:spcPts val="900"/>
              </a:spcAft>
              <a:defRPr sz="2000" b="1">
                <a:solidFill>
                  <a:srgbClr val="0A84FF"/>
                </a:solidFill>
                <a:latin typeface="Aptos"/>
              </a:defRPr>
            </a:pPr>
            <a:r>
              <a:t>d</a:t>
            </a:r>
          </a:p>
        </p:txBody>
      </p:sp>
      <p:cxnSp>
        <p:nvCxnSpPr>
          <p:cNvPr id="10" name="Connector 9"/>
          <p:cNvCxnSpPr/>
          <p:nvPr/>
        </p:nvCxnSpPr>
        <p:spPr>
          <a:xfrm>
            <a:off x="6089904" y="3227832"/>
            <a:ext cx="0" cy="201168"/>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423160" y="3429000"/>
            <a:ext cx="3666744" cy="0"/>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423160" y="3429000"/>
            <a:ext cx="0" cy="246887"/>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14400" y="3675887"/>
            <a:ext cx="3017520" cy="1024128"/>
          </a:xfrm>
          <a:prstGeom prst="rect">
            <a:avLst/>
          </a:prstGeom>
          <a:solidFill>
            <a:srgbClr val="1C1C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0"/>
          <a:lstStyle/>
          <a:p>
            <a:pPr algn="ctr">
              <a:spcAft>
                <a:spcPts val="900"/>
              </a:spcAft>
              <a:defRPr sz="1700" b="1">
                <a:solidFill>
                  <a:srgbClr val="F5F5F7"/>
                </a:solidFill>
                <a:latin typeface="Aptos"/>
              </a:defRPr>
            </a:pPr>
            <a:r>
              <a:t>PHONE_DEVICE</a:t>
            </a:r>
          </a:p>
          <a:p>
            <a:pPr>
              <a:spcAft>
                <a:spcPts val="900"/>
              </a:spcAft>
              <a:defRPr sz="1700" b="1">
                <a:solidFill>
                  <a:srgbClr val="F5F5F7"/>
                </a:solidFill>
                <a:latin typeface="Aptos"/>
              </a:defRPr>
            </a:pPr>
            <a:r>
              <a:t>device_id PK / FK</a:t>
            </a:r>
          </a:p>
          <a:p>
            <a:pPr>
              <a:spcAft>
                <a:spcPts val="900"/>
              </a:spcAft>
              <a:defRPr sz="1700" b="1">
                <a:solidFill>
                  <a:srgbClr val="F5F5F7"/>
                </a:solidFill>
                <a:latin typeface="Aptos"/>
              </a:defRPr>
            </a:pPr>
            <a:r>
              <a:t>android_release</a:t>
            </a:r>
          </a:p>
        </p:txBody>
      </p:sp>
      <p:cxnSp>
        <p:nvCxnSpPr>
          <p:cNvPr id="14" name="Connector 13"/>
          <p:cNvCxnSpPr/>
          <p:nvPr/>
        </p:nvCxnSpPr>
        <p:spPr>
          <a:xfrm>
            <a:off x="6089904" y="3227832"/>
            <a:ext cx="0" cy="201168"/>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80760" y="3429000"/>
            <a:ext cx="9144" cy="0"/>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80760" y="3429000"/>
            <a:ext cx="0" cy="246887"/>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572000" y="3675887"/>
            <a:ext cx="3017520" cy="1024128"/>
          </a:xfrm>
          <a:prstGeom prst="rect">
            <a:avLst/>
          </a:prstGeom>
          <a:solidFill>
            <a:srgbClr val="1C1C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0"/>
          <a:lstStyle/>
          <a:p>
            <a:pPr algn="ctr">
              <a:spcAft>
                <a:spcPts val="900"/>
              </a:spcAft>
              <a:defRPr sz="1700" b="1">
                <a:solidFill>
                  <a:srgbClr val="F5F5F7"/>
                </a:solidFill>
                <a:latin typeface="Aptos"/>
              </a:defRPr>
            </a:pPr>
            <a:r>
              <a:t>LAPTOP_DEVICE</a:t>
            </a:r>
          </a:p>
          <a:p>
            <a:pPr>
              <a:spcAft>
                <a:spcPts val="900"/>
              </a:spcAft>
              <a:defRPr sz="1700" b="1">
                <a:solidFill>
                  <a:srgbClr val="F5F5F7"/>
                </a:solidFill>
                <a:latin typeface="Aptos"/>
              </a:defRPr>
            </a:pPr>
            <a:r>
              <a:t>device_id PK / FK</a:t>
            </a:r>
          </a:p>
          <a:p>
            <a:pPr>
              <a:spcAft>
                <a:spcPts val="900"/>
              </a:spcAft>
              <a:defRPr sz="1700" b="1">
                <a:solidFill>
                  <a:srgbClr val="F5F5F7"/>
                </a:solidFill>
                <a:latin typeface="Aptos"/>
              </a:defRPr>
            </a:pPr>
            <a:r>
              <a:t>platform, cache_mb</a:t>
            </a:r>
          </a:p>
        </p:txBody>
      </p:sp>
      <p:cxnSp>
        <p:nvCxnSpPr>
          <p:cNvPr id="18" name="Connector 17"/>
          <p:cNvCxnSpPr/>
          <p:nvPr/>
        </p:nvCxnSpPr>
        <p:spPr>
          <a:xfrm>
            <a:off x="6089904" y="3227832"/>
            <a:ext cx="0" cy="201168"/>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089904" y="3429000"/>
            <a:ext cx="3648456" cy="0"/>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38360" y="3429000"/>
            <a:ext cx="0" cy="246887"/>
          </a:xfrm>
          <a:prstGeom prst="line">
            <a:avLst/>
          </a:prstGeom>
          <a:ln w="25400">
            <a:solidFill>
              <a:srgbClr val="0A84FF"/>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8229600" y="3675887"/>
            <a:ext cx="3017520" cy="1024128"/>
          </a:xfrm>
          <a:prstGeom prst="rect">
            <a:avLst/>
          </a:prstGeom>
          <a:solidFill>
            <a:srgbClr val="1C1C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0"/>
          <a:lstStyle/>
          <a:p>
            <a:pPr algn="ctr">
              <a:spcAft>
                <a:spcPts val="900"/>
              </a:spcAft>
              <a:defRPr sz="1700" b="1">
                <a:solidFill>
                  <a:srgbClr val="F5F5F7"/>
                </a:solidFill>
                <a:latin typeface="Aptos"/>
              </a:defRPr>
            </a:pPr>
            <a:r>
              <a:t>WATCH_DEVICE</a:t>
            </a:r>
          </a:p>
          <a:p>
            <a:pPr>
              <a:spcAft>
                <a:spcPts val="900"/>
              </a:spcAft>
              <a:defRPr sz="1700" b="1">
                <a:solidFill>
                  <a:srgbClr val="F5F5F7"/>
                </a:solidFill>
                <a:latin typeface="Aptos"/>
              </a:defRPr>
            </a:pPr>
            <a:r>
              <a:t>device_id PK / FK</a:t>
            </a:r>
          </a:p>
          <a:p>
            <a:pPr>
              <a:spcAft>
                <a:spcPts val="900"/>
              </a:spcAft>
              <a:defRPr sz="1700" b="1">
                <a:solidFill>
                  <a:srgbClr val="F5F5F7"/>
                </a:solidFill>
                <a:latin typeface="Aptos"/>
              </a:defRPr>
            </a:pPr>
            <a:r>
              <a:t>wearable_os, bridge</a:t>
            </a:r>
          </a:p>
        </p:txBody>
      </p:sp>
      <p:sp>
        <p:nvSpPr>
          <p:cNvPr id="22" name="TextBox 21"/>
          <p:cNvSpPr txBox="1"/>
          <p:nvPr/>
        </p:nvSpPr>
        <p:spPr>
          <a:xfrm>
            <a:off x="822960" y="4937760"/>
            <a:ext cx="10607040" cy="548640"/>
          </a:xfrm>
          <a:prstGeom prst="rect">
            <a:avLst/>
          </a:prstGeom>
          <a:noFill/>
        </p:spPr>
        <p:txBody>
          <a:bodyPr wrap="square" lIns="109728" tIns="54864" bIns="0">
            <a:spAutoFit/>
          </a:bodyPr>
          <a:lstStyle/>
          <a:p>
            <a:pPr>
              <a:spcAft>
                <a:spcPts val="900"/>
              </a:spcAft>
              <a:defRPr sz="2100" b="0">
                <a:solidFill>
                  <a:srgbClr val="F5F5F7"/>
                </a:solidFill>
                <a:latin typeface="Aptos"/>
              </a:defRPr>
            </a:pPr>
            <a:r>
              <a:t>Total: every DEVICE has a subtype. Disjoint: exactly one subtype matches device_type.</a:t>
            </a:r>
          </a:p>
        </p:txBody>
      </p:sp>
      <p:sp>
        <p:nvSpPr>
          <p:cNvPr id="23" name="TextBox 22"/>
          <p:cNvSpPr txBox="1"/>
          <p:nvPr/>
        </p:nvSpPr>
        <p:spPr>
          <a:xfrm>
            <a:off x="822960" y="5614416"/>
            <a:ext cx="10607040" cy="457200"/>
          </a:xfrm>
          <a:prstGeom prst="rect">
            <a:avLst/>
          </a:prstGeom>
          <a:noFill/>
        </p:spPr>
        <p:txBody>
          <a:bodyPr wrap="square" lIns="109728" tIns="54864" bIns="0">
            <a:spAutoFit/>
          </a:bodyPr>
          <a:lstStyle/>
          <a:p>
            <a:pPr>
              <a:spcAft>
                <a:spcPts val="900"/>
              </a:spcAft>
              <a:defRPr sz="1900" b="0">
                <a:solidFill>
                  <a:srgbClr val="A9ABB4"/>
                </a:solidFill>
                <a:latin typeface="Aptos"/>
              </a:defRPr>
            </a:pPr>
            <a:r>
              <a:t>Table-per-subtype avoids NULL fields for attributes that do not apply.</a:t>
            </a:r>
          </a:p>
        </p:txBody>
      </p:sp>
      <p:sp>
        <p:nvSpPr>
          <p:cNvPr id="24" name="TextBox 23"/>
          <p:cNvSpPr txBox="1"/>
          <p:nvPr/>
        </p:nvSpPr>
        <p:spPr>
          <a:xfrm>
            <a:off x="594360" y="6437376"/>
            <a:ext cx="9144000" cy="228600"/>
          </a:xfrm>
          <a:prstGeom prst="rect">
            <a:avLst/>
          </a:prstGeom>
          <a:noFill/>
        </p:spPr>
        <p:txBody>
          <a:bodyPr wrap="square" lIns="109728" tIns="54864" bIns="0">
            <a:spAutoFit/>
          </a:bodyPr>
          <a:lstStyle/>
          <a:p>
            <a:pPr>
              <a:spcAft>
                <a:spcPts val="900"/>
              </a:spcAft>
              <a:defRPr sz="1000" b="0">
                <a:solidFill>
                  <a:srgbClr val="A9ABB4"/>
                </a:solidFill>
                <a:latin typeface="Aptos"/>
              </a:defRPr>
            </a:pPr>
            <a:r>
              <a:t>Vichruth M  ·  24BCE2300  ·  DBMS  ·  VIT Vellore</a:t>
            </a:r>
          </a:p>
        </p:txBody>
      </p:sp>
      <p:sp>
        <p:nvSpPr>
          <p:cNvPr id="25" name="TextBox 24"/>
          <p:cNvSpPr txBox="1"/>
          <p:nvPr/>
        </p:nvSpPr>
        <p:spPr>
          <a:xfrm>
            <a:off x="10652760" y="6391656"/>
            <a:ext cx="914400" cy="292608"/>
          </a:xfrm>
          <a:prstGeom prst="rect">
            <a:avLst/>
          </a:prstGeom>
          <a:noFill/>
        </p:spPr>
        <p:txBody>
          <a:bodyPr wrap="square" lIns="109728" tIns="54864" bIns="0">
            <a:spAutoFit/>
          </a:bodyPr>
          <a:lstStyle/>
          <a:p>
            <a:pPr>
              <a:spcAft>
                <a:spcPts val="900"/>
              </a:spcAft>
              <a:defRPr sz="1100" b="0">
                <a:solidFill>
                  <a:srgbClr val="A9ABB4"/>
                </a:solidFill>
                <a:latin typeface="Aptos"/>
              </a:defRPr>
            </a:pPr>
            <a:r>
              <a:t>04 / 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113"/>
        </a:solidFill>
        <a:effectLst/>
      </p:bgPr>
    </p:bg>
    <p:spTree>
      <p:nvGrpSpPr>
        <p:cNvPr id="1" name=""/>
        <p:cNvGrpSpPr/>
        <p:nvPr/>
      </p:nvGrpSpPr>
      <p:grpSpPr/>
      <p:sp>
        <p:nvSpPr>
          <p:cNvPr id="2" name="TextBox 1"/>
          <p:cNvSpPr txBox="1"/>
          <p:nvPr/>
        </p:nvSpPr>
        <p:spPr>
          <a:xfrm>
            <a:off x="548640" y="256032"/>
            <a:ext cx="10789920" cy="320040"/>
          </a:xfrm>
          <a:prstGeom prst="rect">
            <a:avLst/>
          </a:prstGeom>
          <a:noFill/>
        </p:spPr>
        <p:txBody>
          <a:bodyPr wrap="square" lIns="109728" tIns="54864" bIns="0">
            <a:spAutoFit/>
          </a:bodyPr>
          <a:lstStyle/>
          <a:p>
            <a:pPr>
              <a:spcAft>
                <a:spcPts val="900"/>
              </a:spcAft>
              <a:defRPr sz="1200" b="1">
                <a:solidFill>
                  <a:srgbClr val="0A84FF"/>
                </a:solidFill>
                <a:latin typeface="Aptos"/>
              </a:defRPr>
            </a:pPr>
            <a:r>
              <a:t>RELATIONAL MODEL MAPPING</a:t>
            </a:r>
          </a:p>
        </p:txBody>
      </p:sp>
      <p:sp>
        <p:nvSpPr>
          <p:cNvPr id="3" name="TextBox 2"/>
          <p:cNvSpPr txBox="1"/>
          <p:nvPr/>
        </p:nvSpPr>
        <p:spPr>
          <a:xfrm>
            <a:off x="548640" y="704088"/>
            <a:ext cx="11064240" cy="914400"/>
          </a:xfrm>
          <a:prstGeom prst="rect">
            <a:avLst/>
          </a:prstGeom>
          <a:noFill/>
        </p:spPr>
        <p:txBody>
          <a:bodyPr wrap="square" lIns="109728" tIns="54864" bIns="0">
            <a:spAutoFit/>
          </a:bodyPr>
          <a:lstStyle/>
          <a:p>
            <a:pPr>
              <a:spcAft>
                <a:spcPts val="900"/>
              </a:spcAft>
              <a:defRPr sz="2600" b="1">
                <a:solidFill>
                  <a:srgbClr val="F5F5F7"/>
                </a:solidFill>
                <a:latin typeface="Aptos"/>
              </a:defRPr>
            </a:pPr>
            <a:r>
              <a:t>EER mapping yields nine cloud relations</a:t>
            </a:r>
          </a:p>
        </p:txBody>
      </p:sp>
      <p:cxnSp>
        <p:nvCxnSpPr>
          <p:cNvPr id="4" name="Connector 3"/>
          <p:cNvCxnSpPr/>
          <p:nvPr/>
        </p:nvCxnSpPr>
        <p:spPr>
          <a:xfrm>
            <a:off x="658368" y="1371600"/>
            <a:ext cx="10844784" cy="0"/>
          </a:xfrm>
          <a:prstGeom prst="line">
            <a:avLst/>
          </a:prstGeom>
          <a:ln w="12700">
            <a:solidFill>
              <a:srgbClr val="33333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1691640"/>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6" name="TextBox 5"/>
          <p:cNvSpPr txBox="1"/>
          <p:nvPr/>
        </p:nvSpPr>
        <p:spPr>
          <a:xfrm>
            <a:off x="777240" y="1691640"/>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DEVICE 1:N SYNC_BATCH. Each batch belongs to one source device and has a client sequence.</a:t>
            </a:r>
          </a:p>
        </p:txBody>
      </p:sp>
      <p:sp>
        <p:nvSpPr>
          <p:cNvPr id="7" name="TextBox 6"/>
          <p:cNvSpPr txBox="1"/>
          <p:nvPr/>
        </p:nvSpPr>
        <p:spPr>
          <a:xfrm>
            <a:off x="548640" y="2734056"/>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8" name="TextBox 7"/>
          <p:cNvSpPr txBox="1"/>
          <p:nvPr/>
        </p:nvSpPr>
        <p:spPr>
          <a:xfrm>
            <a:off x="777240" y="2734056"/>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SYNC_BATCH 1:N EXPENSE. CATEGORY 1:N EXPENSE. CONFLICT_LOG references the contested expense.</a:t>
            </a:r>
          </a:p>
        </p:txBody>
      </p:sp>
      <p:sp>
        <p:nvSpPr>
          <p:cNvPr id="9" name="TextBox 8"/>
          <p:cNvSpPr txBox="1"/>
          <p:nvPr/>
        </p:nvSpPr>
        <p:spPr>
          <a:xfrm>
            <a:off x="548640" y="3776472"/>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10" name="TextBox 9"/>
          <p:cNvSpPr txBox="1"/>
          <p:nvPr/>
        </p:nvSpPr>
        <p:spPr>
          <a:xfrm>
            <a:off x="777240" y="3776472"/>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DEVICE 1:N ACTIVITY_ENTRY. UNIQUE(device_id, entry_date) defines one daily snapshot per source.</a:t>
            </a:r>
          </a:p>
        </p:txBody>
      </p:sp>
      <p:sp>
        <p:nvSpPr>
          <p:cNvPr id="11" name="TextBox 10"/>
          <p:cNvSpPr txBox="1"/>
          <p:nvPr/>
        </p:nvSpPr>
        <p:spPr>
          <a:xfrm>
            <a:off x="548640" y="4818888"/>
            <a:ext cx="164592" cy="274320"/>
          </a:xfrm>
          <a:prstGeom prst="rect">
            <a:avLst/>
          </a:prstGeom>
          <a:noFill/>
        </p:spPr>
        <p:txBody>
          <a:bodyPr wrap="square" lIns="109728" tIns="54864" bIns="0">
            <a:spAutoFit/>
          </a:bodyPr>
          <a:lstStyle/>
          <a:p>
            <a:pPr>
              <a:spcAft>
                <a:spcPts val="900"/>
              </a:spcAft>
              <a:defRPr sz="1800" b="0">
                <a:solidFill>
                  <a:srgbClr val="0A84FF"/>
                </a:solidFill>
                <a:latin typeface="Aptos"/>
              </a:defRPr>
            </a:pPr>
            <a:r>
              <a:t>•</a:t>
            </a:r>
          </a:p>
        </p:txBody>
      </p:sp>
      <p:sp>
        <p:nvSpPr>
          <p:cNvPr id="12" name="TextBox 11"/>
          <p:cNvSpPr txBox="1"/>
          <p:nvPr/>
        </p:nvSpPr>
        <p:spPr>
          <a:xfrm>
            <a:off x="777240" y="4818888"/>
            <a:ext cx="5349240" cy="941832"/>
          </a:xfrm>
          <a:prstGeom prst="rect">
            <a:avLst/>
          </a:prstGeom>
          <a:noFill/>
        </p:spPr>
        <p:txBody>
          <a:bodyPr wrap="square" lIns="109728" tIns="54864" bIns="0">
            <a:spAutoFit/>
          </a:bodyPr>
          <a:lstStyle/>
          <a:p>
            <a:pPr>
              <a:spcAft>
                <a:spcPts val="900"/>
              </a:spcAft>
              <a:defRPr sz="1800" b="0">
                <a:solidFill>
                  <a:srgbClr val="F5F5F7"/>
                </a:solidFill>
                <a:latin typeface="Aptos"/>
              </a:defRPr>
            </a:pPr>
            <a:r>
              <a:t>Cascade only subtype lifecycles. Restrict deletion of devices with historical facts and categories in use.</a:t>
            </a:r>
          </a:p>
        </p:txBody>
      </p:sp>
      <p:sp>
        <p:nvSpPr>
          <p:cNvPr id="13" name="Rectangle 12"/>
          <p:cNvSpPr/>
          <p:nvPr/>
        </p:nvSpPr>
        <p:spPr>
          <a:xfrm>
            <a:off x="6492240" y="1664208"/>
            <a:ext cx="4983480" cy="4462272"/>
          </a:xfrm>
          <a:prstGeom prst="rect">
            <a:avLst/>
          </a:prstGeom>
          <a:solidFill>
            <a:srgbClr val="1C1C20"/>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tIns="54864" bIns="0"/>
          <a:lstStyle/>
          <a:p>
            <a:pPr algn="ctr">
              <a:spcAft>
                <a:spcPts val="900"/>
              </a:spcAft>
              <a:defRPr sz="1700" b="0">
                <a:solidFill>
                  <a:srgbClr val="F5F5F7"/>
                </a:solidFill>
                <a:latin typeface="Consolas"/>
              </a:defRPr>
            </a:pPr>
            <a:r>
              <a:t>device(device_id PK, name, type)</a:t>
            </a:r>
          </a:p>
          <a:p>
            <a:pPr>
              <a:spcAft>
                <a:spcPts val="900"/>
              </a:spcAft>
              <a:defRPr sz="1700" b="0">
                <a:solidFill>
                  <a:srgbClr val="F5F5F7"/>
                </a:solidFill>
                <a:latin typeface="Consolas"/>
              </a:defRPr>
            </a:pPr>
            <a:r>
              <a:t>category(category_name PK, description)</a:t>
            </a:r>
          </a:p>
          <a:p>
            <a:pPr>
              <a:spcAft>
                <a:spcPts val="900"/>
              </a:spcAft>
              <a:defRPr sz="1700" b="0">
                <a:solidFill>
                  <a:srgbClr val="F5F5F7"/>
                </a:solidFill>
                <a:latin typeface="Consolas"/>
              </a:defRPr>
            </a:pPr>
            <a:r>
              <a:t>sync_batch(device_id PK/FK,</a:t>
            </a:r>
          </a:p>
          <a:p>
            <a:pPr>
              <a:spcAft>
                <a:spcPts val="900"/>
              </a:spcAft>
              <a:defRPr sz="1700" b="0">
                <a:solidFill>
                  <a:srgbClr val="F5F5F7"/>
                </a:solidFill>
                <a:latin typeface="Consolas"/>
              </a:defRPr>
            </a:pPr>
            <a:r>
              <a:t> client_batch_seq PK, sync_time)</a:t>
            </a:r>
          </a:p>
          <a:p>
            <a:pPr>
              <a:spcAft>
                <a:spcPts val="900"/>
              </a:spcAft>
              <a:defRPr sz="1700" b="0">
                <a:solidFill>
                  <a:srgbClr val="F5F5F7"/>
                </a:solidFill>
                <a:latin typeface="Consolas"/>
              </a:defRPr>
            </a:pPr>
            <a:r>
              <a:t>expense(expense_id PK, device_id FK,</a:t>
            </a:r>
          </a:p>
          <a:p>
            <a:pPr>
              <a:spcAft>
                <a:spcPts val="900"/>
              </a:spcAft>
              <a:defRPr sz="1700" b="0">
                <a:solidFill>
                  <a:srgbClr val="F5F5F7"/>
                </a:solidFill>
                <a:latin typeface="Consolas"/>
              </a:defRPr>
            </a:pPr>
            <a:r>
              <a:t> client_batch_seq FK, item_index,</a:t>
            </a:r>
          </a:p>
          <a:p>
            <a:pPr>
              <a:spcAft>
                <a:spcPts val="900"/>
              </a:spcAft>
              <a:defRPr sz="1700" b="0">
                <a:solidFill>
                  <a:srgbClr val="F5F5F7"/>
                </a:solidFill>
                <a:latin typeface="Consolas"/>
              </a:defRPr>
            </a:pPr>
            <a:r>
              <a:t> category_name FK, amount, version)</a:t>
            </a:r>
          </a:p>
          <a:p>
            <a:pPr>
              <a:spcAft>
                <a:spcPts val="900"/>
              </a:spcAft>
              <a:defRPr sz="1700" b="0">
                <a:solidFill>
                  <a:srgbClr val="F5F5F7"/>
                </a:solidFill>
                <a:latin typeface="Consolas"/>
              </a:defRPr>
            </a:pPr>
            <a:r>
              <a:t>activity_entry(entry_id PK, device_id FK,</a:t>
            </a:r>
          </a:p>
          <a:p>
            <a:pPr>
              <a:spcAft>
                <a:spcPts val="900"/>
              </a:spcAft>
              <a:defRPr sz="1700" b="0">
                <a:solidFill>
                  <a:srgbClr val="F5F5F7"/>
                </a:solidFill>
                <a:latin typeface="Consolas"/>
              </a:defRPr>
            </a:pPr>
            <a:r>
              <a:t> entry_date, step_count, version)</a:t>
            </a:r>
          </a:p>
          <a:p>
            <a:pPr>
              <a:spcAft>
                <a:spcPts val="900"/>
              </a:spcAft>
              <a:defRPr sz="1700" b="0">
                <a:solidFill>
                  <a:srgbClr val="F5F5F7"/>
                </a:solidFill>
                <a:latin typeface="Consolas"/>
              </a:defRPr>
            </a:pPr>
            <a:r>
              <a:t>conflict_log(conflict_id PK, expense_id FK)</a:t>
            </a:r>
          </a:p>
        </p:txBody>
      </p:sp>
      <p:sp>
        <p:nvSpPr>
          <p:cNvPr id="14" name="TextBox 13"/>
          <p:cNvSpPr txBox="1"/>
          <p:nvPr/>
        </p:nvSpPr>
        <p:spPr>
          <a:xfrm>
            <a:off x="594360" y="6437376"/>
            <a:ext cx="9144000" cy="228600"/>
          </a:xfrm>
          <a:prstGeom prst="rect">
            <a:avLst/>
          </a:prstGeom>
          <a:noFill/>
        </p:spPr>
        <p:txBody>
          <a:bodyPr wrap="square" lIns="109728" tIns="54864" bIns="0">
            <a:spAutoFit/>
          </a:bodyPr>
          <a:lstStyle/>
          <a:p>
            <a:pPr>
              <a:spcAft>
                <a:spcPts val="900"/>
              </a:spcAft>
              <a:defRPr sz="1000" b="0">
                <a:solidFill>
                  <a:srgbClr val="A9ABB4"/>
                </a:solidFill>
                <a:latin typeface="Aptos"/>
              </a:defRPr>
            </a:pPr>
            <a:r>
              <a:t>Vichruth M  ·  24BCE2300  ·  DBMS  ·  VIT Vellore</a:t>
            </a:r>
          </a:p>
        </p:txBody>
      </p:sp>
      <p:sp>
        <p:nvSpPr>
          <p:cNvPr id="15" name="TextBox 14"/>
          <p:cNvSpPr txBox="1"/>
          <p:nvPr/>
        </p:nvSpPr>
        <p:spPr>
          <a:xfrm>
            <a:off x="10652760" y="6391656"/>
            <a:ext cx="914400" cy="292608"/>
          </a:xfrm>
          <a:prstGeom prst="rect">
            <a:avLst/>
          </a:prstGeom>
          <a:noFill/>
        </p:spPr>
        <p:txBody>
          <a:bodyPr wrap="square" lIns="109728" tIns="54864" bIns="0">
            <a:spAutoFit/>
          </a:bodyPr>
          <a:lstStyle/>
          <a:p>
            <a:pPr>
              <a:spcAft>
                <a:spcPts val="900"/>
              </a:spcAft>
              <a:defRPr sz="1100" b="0">
                <a:solidFill>
                  <a:srgbClr val="A9ABB4"/>
                </a:solidFill>
                <a:latin typeface="Aptos"/>
              </a:defRPr>
            </a:pPr>
            <a:r>
              <a:t>05 / 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EdgeDB — Review 0</dc:title>
  <dc:subject>DBMS course evaluation, SCOPE, VIT Vellore</dc:subject>
  <dc:creator>Vichruth M (24BCE2300)</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