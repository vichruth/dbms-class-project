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2003395-d549-5d25-361c-f086eda26566}">
          <p14:sldIdLst>
            <p14:sldId id="256"/>
          </p14:sldIdLst>
        </p14:section>
        <p14:section name="Zeroth Review" id="{13f48019-9170-cee7-95e5-ffc75d5cc195}">
          <p14:sldIdLst>
            <p14:sldId id="257"/>
            <p14:sldId id="258"/>
          </p14:sldIdLst>
        </p14:section>
        <p14:section name="Review 1" id="{7cca06c5-fc08-d1d3-064f-009024842df7}">
          <p14:sldIdLst>
            <p14:sldId id="259"/>
            <p14:sldId id="260"/>
            <p14:sldId id="261"/>
            <p14:sldId id="262"/>
          </p14:sldIdLst>
        </p14:section>
        <p14:section name="Review 2" id="{84a33010-4b9d-891a-0e6a-0022442261cc}">
          <p14:sldIdLst>
            <p14:sldId id="263"/>
            <p14:sldId id="264"/>
            <p14:sldId id="265"/>
          </p14:sldIdLst>
        </p14:section>
        <p14:section name="Demo &amp; Roadmap" id="{817bba83-0673-bae5-d04f-752937a51326}">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Professor. I'm Vichruth, registration number 24BCE2300. This is my DBMS project, EdgeDB, an offline-first expense and activity tracker. Today's evaluation covers a recap of the Zeroth Review, then Review 1, which is normalization, DDL and DML, and Review 2, which is the business logic, database connectivity and front end. I'll finish with a live concurrency demo that shows the database itself resolving a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DBMS coursework assumes one connected client. Real devices do not work that way. I carry a Pixel 8 phone and a CMF Watch Pro 2, and both count my steps offline all day. By evening the phone says 8,450 steps from its pocket accelerometer and the watch says 11,280 from the wrist sensor. When both sync for the same calendar date, that is a textbook concurrency collision. A naive database lets the last writer silently win and one reading is lost. EdgeDB intercepts it inside PostgreSQL with a trigger, records both readings in conflict_log, and applies a wearable hardware priority rule. The same idea covers my secondary scenario, a phone and laptop editing one expense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model from the Zeroth Review. DEVICE is a supertype with a total, disjoint specialization into phone, laptop and watch, so every device is exactly one subtype. I mapped it as table-per-subtype, where each subtype's primary key is also a foreign key to device with cascade. A device uploads many sync batches, each batch carries many expenses, a category classifies many expenses, an expense can have many conflict-log rows, and the phone and watch each produce many daily activity rows, one per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 from one unnormalized relation holding device, batch, expense, category and step data together. That causes three anomalies: I cannot register a wearable without dummy entries, deleting steps erases device metadata, and a firmware update needs bulk modifications. In first normal form I make every attribute atomic and fix a composite key. For second normal form I remove partial dependencies on that key, which produces DEVICE and SYNC_BATCH. For third normal form I remove the transitive chain from expense to category name to category description, creating CATEGORY. Finally I checked BCNF: for every non-trivial dependency X determines Y, X is a superkey, so no further decomposition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DDL for the BCNF schema. The daily activity table has two guards: a CHECK that step count is never negative, and a compound UNIQUE on device id and entry date, so each device has exactly one reading per day. That unique key is exactly where the phone-versus-watch collision shows up. Sync batch has a compound UNIQUE on device id and client batch sequence, which rejects a replayed batch, so replay is idempotent inside the database. Expense has a CHECK on amount and a version column for optimistic concurrency. The subtype tables use their primary key as a foreign key to device with cascade.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two BEFORE UPDATE triggers. trg_activity_conflict handles the step-count collision. When a conflicting reading arrives, the function writes both values into conflict_log with the resolution rule WEARABLE_HARDWARE_PRIORITY, and lets the wearable reading win. trg_expense_conflict is the optimistic versioning trigger: if the incoming version is not newer, it logs the stale write and returns OLD, so the newer data is kept. Neither raises an exception, so the transaction commits and the audit row survives. On the right are the four views the dashboard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DML I seeded a realistic baseline: three registered devices, six categories, twelve baseline expenses and seven days of daily step logs. Devices go in first, then categories, then batches, expenses and activity, so foreign keys are always satisfied. I deliberately left today's date empty for the phone and watch, so the live demo starts from a clean state and creates the collision on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Flask backend talks to PostgreSQL through psycopg2 with autocommit turned off, so I control the transaction boundary myself. An entire sync batch is one transaction: if every row succeeds I commit, and if anything fails I roll back so no half-uploaded batch ever exists. On the right is how each ACID property is delivered: atomicity by commit or rollback, consistency by CHECK, foreign key and UNIQUE constraints, isolation by row locks, and durability by the write-ahead log. All queries are parameterized.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logic has three stages. First, each device buffers writes in a local append-only SQLite file, so the app works with zero network. Second, an on-device keyword classifier assigns a category and a confidence score between zero and one before anything leaves the device. Third, the sync engine reads rows past its cursor and uploads them in one PostgreSQL transaction. Because of the unique batch key plus the cursor, retrying after a crash can't create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front end: a single-page dark dashboard in HTML5, CSS3 and vanilla JavaScript, calling the Flask REST API. The top row has KPI cards, below is the category breakdown and a live activity feed. At the bottom are four demo buttons. Save to Offline SQLite writes locally with no network. Sync Phone Batch pushes the buffered rows to PostgreSQL. Simulate Watch versus Phone Step Conflict is the main demo, and Simulate Expense Collision shows the versioning trigger. The numbers on this slide are an illustrative layout; I will show live data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showstopper. I click Simulate Watch versus Phone Step Conflict. Offline, the phone logged 8,450 steps and the watch logged 11,280 for the same date. The phone batch syncs first and is stored. When the watch batch arrives for the same date, the BEFORE UPDATE trigger fires, writes both readings into conflict_log, and applies WEARABLE_HARDWARE_PRIORITY, so 11,280 is kept because the wrist sensor is the more reliable step counter. Nothing was silently overwritten and the audit trail shows exactly what happened. Then I click Simulate Expense Collision to show the same idea with version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EdgeDB delivers a BCNF schema with EER specialization, database-enforced resolution of phone-versus-watch step collisions through PL/pgSQL triggers, atomic and idempotent sync using psycopg2 transactions, and an offline-first edge with on-device categorization and a live dashboard. For Review 3 I plan correctness tests for conflict, replay and rollback, performance benchmarks on sync throughput and trigger overhead, validation of the classifier's precision and recall, and fault injection to prove atomicity when the network drops mid-batch.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E3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E3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chemeClr val="tx2"/>
                </a:solidFill>
                <a:latin typeface="Calibri" pitchFamily="34" charset="0"/>
                <a:ea typeface="Calibri" pitchFamily="34" charset="-122"/>
                <a:cs typeface="Calibri" pitchFamily="34" charset="-120"/>
              </a:rPr>
              <a:t>EdgeDB  |  Vichruth M  |  24BCE2300  |  DBMS, VIT Vellore</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94360"/>
            <a:ext cx="50292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COMBINED REVIEW 1 &amp; 2  |  DBMS</a:t>
            </a:r>
            <a:endParaRPr lang="en-US" sz="1100" dirty="0"/>
          </a:p>
        </p:txBody>
      </p:sp>
      <p:sp>
        <p:nvSpPr>
          <p:cNvPr id="3" name="Text 1"/>
          <p:cNvSpPr txBox="1"/>
          <p:nvPr/>
        </p:nvSpPr>
        <p:spPr>
          <a:xfrm>
            <a:off x="548640" y="914400"/>
            <a:ext cx="5029200"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EdgeDB</a:t>
            </a:r>
            <a:endParaRPr lang="en-US" sz="5400" dirty="0"/>
          </a:p>
        </p:txBody>
      </p:sp>
      <p:sp>
        <p:nvSpPr>
          <p:cNvPr id="4" name="Text 2"/>
          <p:cNvSpPr txBox="1"/>
          <p:nvPr/>
        </p:nvSpPr>
        <p:spPr>
          <a:xfrm>
            <a:off x="548640" y="1920240"/>
            <a:ext cx="4937760" cy="1097280"/>
          </a:xfrm>
          <a:prstGeom prst="rect">
            <a:avLst/>
          </a:prstGeom>
          <a:noFill/>
          <a:ln/>
        </p:spPr>
        <p:txBody>
          <a:bodyPr wrap="square" lIns="0" tIns="0" rIns="0" bIns="0" rtlCol="0" anchor="t"/>
          <a:lstStyle/>
          <a:p>
            <a:pPr indent="0" marL="0">
              <a:buNone/>
            </a:pPr>
            <a:r>
              <a:rPr lang="en-US" sz="2000" dirty="0">
                <a:solidFill>
                  <a:schemeClr val="tx2"/>
                </a:solidFill>
                <a:latin typeface="Calibri" pitchFamily="34" charset="0"/>
                <a:ea typeface="Calibri" pitchFamily="34" charset="-122"/>
                <a:cs typeface="Calibri" pitchFamily="34" charset="-120"/>
              </a:rPr>
              <a:t>Offline-First Relational Sync &amp; Multi-Sensor Concurrency Management Engine</a:t>
            </a:r>
            <a:endParaRPr lang="en-US" sz="2000" dirty="0"/>
          </a:p>
        </p:txBody>
      </p:sp>
      <p:sp>
        <p:nvSpPr>
          <p:cNvPr id="5" name="Text 3"/>
          <p:cNvSpPr txBox="1"/>
          <p:nvPr/>
        </p:nvSpPr>
        <p:spPr>
          <a:xfrm>
            <a:off x="548640" y="3291840"/>
            <a:ext cx="4937760" cy="1005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Calibri" pitchFamily="34" charset="0"/>
                <a:ea typeface="Calibri" pitchFamily="34" charset="-122"/>
                <a:cs typeface="Calibri" pitchFamily="34" charset="-120"/>
              </a:rPr>
              <a:t>Vichruth M  |  24BCE2300</a:t>
            </a:r>
            <a:endParaRPr lang="en-US" sz="1400" dirty="0"/>
          </a:p>
          <a:p>
            <a:pPr indent="0" marL="0">
              <a:spcAft>
                <a:spcPts val="400"/>
              </a:spcAft>
              <a:buNone/>
            </a:pPr>
            <a:r>
              <a:rPr lang="en-US" sz="1300" dirty="0">
                <a:solidFill>
                  <a:schemeClr val="tx2"/>
                </a:solidFill>
                <a:latin typeface="Calibri" pitchFamily="34" charset="0"/>
                <a:ea typeface="Calibri" pitchFamily="34" charset="-122"/>
                <a:cs typeface="Calibri" pitchFamily="34" charset="-120"/>
              </a:rPr>
              <a:t>Database Management Systems (CSE), VIT Vellore</a:t>
            </a:r>
            <a:endParaRPr lang="en-US" sz="1400" dirty="0"/>
          </a:p>
          <a:p>
            <a:pPr indent="0" marL="0">
              <a:spcAft>
                <a:spcPts val="400"/>
              </a:spcAft>
              <a:buNone/>
            </a:pPr>
            <a:r>
              <a:rPr lang="en-US" sz="1300" dirty="0">
                <a:solidFill>
                  <a:schemeClr val="tx2"/>
                </a:solidFill>
                <a:latin typeface="Calibri" pitchFamily="34" charset="0"/>
                <a:ea typeface="Calibri" pitchFamily="34" charset="-122"/>
                <a:cs typeface="Calibri" pitchFamily="34" charset="-120"/>
              </a:rPr>
              <a:t>Zeroth Review recap  +  Review 1  +  Review 2</a:t>
            </a:r>
            <a:endParaRPr lang="en-US" sz="1400" dirty="0"/>
          </a:p>
        </p:txBody>
      </p:sp>
      <p:sp>
        <p:nvSpPr>
          <p:cNvPr id="6" name="Shape 4"/>
          <p:cNvSpPr/>
          <p:nvPr/>
        </p:nvSpPr>
        <p:spPr>
          <a:xfrm>
            <a:off x="5669280" y="822960"/>
            <a:ext cx="1600200" cy="822960"/>
          </a:xfrm>
          <a:prstGeom prst="roundRect">
            <a:avLst>
              <a:gd name="adj" fmla="val 7778"/>
            </a:avLst>
          </a:prstGeom>
          <a:solidFill>
            <a:schemeClr val="bg2"/>
          </a:solidFill>
          <a:ln w="9525">
            <a:solidFill>
              <a:schemeClr val="accent1"/>
            </a:solidFill>
            <a:prstDash val="solid"/>
          </a:ln>
        </p:spPr>
      </p:sp>
      <p:sp>
        <p:nvSpPr>
          <p:cNvPr id="7" name="Text 5"/>
          <p:cNvSpPr txBox="1"/>
          <p:nvPr/>
        </p:nvSpPr>
        <p:spPr>
          <a:xfrm>
            <a:off x="5669280" y="822960"/>
            <a:ext cx="1600200" cy="822960"/>
          </a:xfrm>
          <a:prstGeom prst="rect">
            <a:avLst/>
          </a:prstGeom>
          <a:noFill/>
          <a:ln/>
        </p:spPr>
        <p:txBody>
          <a:bodyPr wrap="square" lIns="508" tIns="508" rIns="508" bIns="508"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Google Pixel 8</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SQLite  |  Phone</a:t>
            </a:r>
            <a:endParaRPr lang="en-US" sz="1400" dirty="0"/>
          </a:p>
        </p:txBody>
      </p:sp>
      <p:sp>
        <p:nvSpPr>
          <p:cNvPr id="8" name="Shape 6"/>
          <p:cNvSpPr/>
          <p:nvPr/>
        </p:nvSpPr>
        <p:spPr>
          <a:xfrm>
            <a:off x="7296912" y="1234440"/>
            <a:ext cx="274320" cy="0"/>
          </a:xfrm>
          <a:prstGeom prst="line">
            <a:avLst/>
          </a:prstGeom>
          <a:noFill/>
          <a:ln w="22225">
            <a:solidFill>
              <a:schemeClr val="accent1"/>
            </a:solidFill>
            <a:prstDash val="solid"/>
            <a:tailEnd type="triangle"/>
          </a:ln>
        </p:spPr>
      </p:sp>
      <p:sp>
        <p:nvSpPr>
          <p:cNvPr id="9" name="Shape 7"/>
          <p:cNvSpPr/>
          <p:nvPr/>
        </p:nvSpPr>
        <p:spPr>
          <a:xfrm>
            <a:off x="5669280" y="1874520"/>
            <a:ext cx="1600200" cy="822960"/>
          </a:xfrm>
          <a:prstGeom prst="roundRect">
            <a:avLst>
              <a:gd name="adj" fmla="val 7778"/>
            </a:avLst>
          </a:prstGeom>
          <a:solidFill>
            <a:schemeClr val="bg2"/>
          </a:solidFill>
          <a:ln w="9525">
            <a:solidFill>
              <a:schemeClr val="accent1"/>
            </a:solidFill>
            <a:prstDash val="solid"/>
          </a:ln>
        </p:spPr>
      </p:sp>
      <p:sp>
        <p:nvSpPr>
          <p:cNvPr id="10" name="Text 8"/>
          <p:cNvSpPr txBox="1"/>
          <p:nvPr/>
        </p:nvSpPr>
        <p:spPr>
          <a:xfrm>
            <a:off x="5669280" y="1874520"/>
            <a:ext cx="1600200" cy="822960"/>
          </a:xfrm>
          <a:prstGeom prst="rect">
            <a:avLst/>
          </a:prstGeom>
          <a:noFill/>
          <a:ln/>
        </p:spPr>
        <p:txBody>
          <a:bodyPr wrap="square" lIns="508" tIns="508" rIns="508" bIns="508"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ThinkPad X1</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SQLite  |  Laptop</a:t>
            </a:r>
            <a:endParaRPr lang="en-US" sz="1400" dirty="0"/>
          </a:p>
        </p:txBody>
      </p:sp>
      <p:sp>
        <p:nvSpPr>
          <p:cNvPr id="11" name="Shape 9"/>
          <p:cNvSpPr/>
          <p:nvPr/>
        </p:nvSpPr>
        <p:spPr>
          <a:xfrm>
            <a:off x="7296912" y="2286000"/>
            <a:ext cx="274320" cy="0"/>
          </a:xfrm>
          <a:prstGeom prst="line">
            <a:avLst/>
          </a:prstGeom>
          <a:noFill/>
          <a:ln w="22225">
            <a:solidFill>
              <a:schemeClr val="accent1"/>
            </a:solidFill>
            <a:prstDash val="solid"/>
            <a:tailEnd type="triangle"/>
          </a:ln>
        </p:spPr>
      </p:sp>
      <p:sp>
        <p:nvSpPr>
          <p:cNvPr id="12" name="Shape 10"/>
          <p:cNvSpPr/>
          <p:nvPr/>
        </p:nvSpPr>
        <p:spPr>
          <a:xfrm>
            <a:off x="5669280" y="2926080"/>
            <a:ext cx="1600200" cy="822960"/>
          </a:xfrm>
          <a:prstGeom prst="roundRect">
            <a:avLst>
              <a:gd name="adj" fmla="val 7778"/>
            </a:avLst>
          </a:prstGeom>
          <a:solidFill>
            <a:schemeClr val="bg2"/>
          </a:solidFill>
          <a:ln w="9525">
            <a:solidFill>
              <a:schemeClr val="accent1"/>
            </a:solidFill>
            <a:prstDash val="solid"/>
          </a:ln>
        </p:spPr>
      </p:sp>
      <p:sp>
        <p:nvSpPr>
          <p:cNvPr id="13" name="Text 11"/>
          <p:cNvSpPr txBox="1"/>
          <p:nvPr/>
        </p:nvSpPr>
        <p:spPr>
          <a:xfrm>
            <a:off x="5669280" y="2926080"/>
            <a:ext cx="1600200" cy="822960"/>
          </a:xfrm>
          <a:prstGeom prst="rect">
            <a:avLst/>
          </a:prstGeom>
          <a:noFill/>
          <a:ln/>
        </p:spPr>
        <p:txBody>
          <a:bodyPr wrap="square" lIns="508" tIns="508" rIns="508" bIns="508"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CMF Watch Pro 2</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SQLite  |  Watch</a:t>
            </a:r>
            <a:endParaRPr lang="en-US" sz="1400" dirty="0"/>
          </a:p>
        </p:txBody>
      </p:sp>
      <p:sp>
        <p:nvSpPr>
          <p:cNvPr id="14" name="Shape 12"/>
          <p:cNvSpPr/>
          <p:nvPr/>
        </p:nvSpPr>
        <p:spPr>
          <a:xfrm>
            <a:off x="7296912" y="3337560"/>
            <a:ext cx="274320" cy="0"/>
          </a:xfrm>
          <a:prstGeom prst="line">
            <a:avLst/>
          </a:prstGeom>
          <a:noFill/>
          <a:ln w="22225">
            <a:solidFill>
              <a:schemeClr val="accent1"/>
            </a:solidFill>
            <a:prstDash val="solid"/>
            <a:tailEnd type="triangle"/>
          </a:ln>
        </p:spPr>
      </p:sp>
      <p:sp>
        <p:nvSpPr>
          <p:cNvPr id="15" name="Shape 13"/>
          <p:cNvSpPr/>
          <p:nvPr/>
        </p:nvSpPr>
        <p:spPr>
          <a:xfrm>
            <a:off x="7589520" y="822960"/>
            <a:ext cx="1097280" cy="2926080"/>
          </a:xfrm>
          <a:prstGeom prst="roundRect">
            <a:avLst>
              <a:gd name="adj" fmla="val 8333"/>
            </a:avLst>
          </a:prstGeom>
          <a:solidFill>
            <a:schemeClr val="accent6"/>
          </a:solidFill>
          <a:ln w="19050">
            <a:solidFill>
              <a:schemeClr val="accent1"/>
            </a:solidFill>
            <a:prstDash val="solid"/>
          </a:ln>
        </p:spPr>
      </p:sp>
      <p:sp>
        <p:nvSpPr>
          <p:cNvPr id="16" name="Text 14"/>
          <p:cNvSpPr txBox="1"/>
          <p:nvPr/>
        </p:nvSpPr>
        <p:spPr>
          <a:xfrm>
            <a:off x="7589520" y="822960"/>
            <a:ext cx="1097280" cy="2926080"/>
          </a:xfrm>
          <a:prstGeom prst="rect">
            <a:avLst/>
          </a:prstGeom>
          <a:noFill/>
          <a:ln/>
        </p:spPr>
        <p:txBody>
          <a:bodyPr wrap="square" lIns="508" tIns="508" rIns="508" bIns="508"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PostgreSQL 16</a:t>
            </a:r>
            <a:endParaRPr lang="en-US" sz="1400" dirty="0"/>
          </a:p>
          <a:p>
            <a:pPr algn="ctr" indent="0" marL="0">
              <a:buNone/>
            </a:pPr>
            <a:r>
              <a:rPr lang="en-US" sz="1100" dirty="0">
                <a:solidFill>
                  <a:schemeClr val="tx2"/>
                </a:solidFill>
                <a:latin typeface="Calibri" pitchFamily="34" charset="0"/>
                <a:ea typeface="Calibri" pitchFamily="34" charset="-122"/>
                <a:cs typeface="Calibri" pitchFamily="34" charset="-120"/>
              </a:rPr>
              <a:t>BCNF</a:t>
            </a:r>
            <a:endParaRPr lang="en-US" sz="1400" dirty="0"/>
          </a:p>
          <a:p>
            <a:pPr algn="ctr" indent="0" marL="0">
              <a:buNone/>
            </a:pPr>
            <a:r>
              <a:rPr lang="en-US" sz="1100" dirty="0">
                <a:solidFill>
                  <a:schemeClr val="tx2"/>
                </a:solidFill>
                <a:latin typeface="Calibri" pitchFamily="34" charset="0"/>
                <a:ea typeface="Calibri" pitchFamily="34" charset="-122"/>
                <a:cs typeface="Calibri" pitchFamily="34" charset="-120"/>
              </a:rPr>
              <a:t>Trigger</a:t>
            </a:r>
            <a:endParaRPr lang="en-US" sz="1400" dirty="0"/>
          </a:p>
          <a:p>
            <a:pPr algn="ctr" indent="0" marL="0">
              <a:buNone/>
            </a:pPr>
            <a:r>
              <a:rPr lang="en-US" sz="1100" dirty="0">
                <a:solidFill>
                  <a:schemeClr val="tx2"/>
                </a:solidFill>
                <a:latin typeface="Calibri" pitchFamily="34" charset="0"/>
                <a:ea typeface="Calibri" pitchFamily="34" charset="-122"/>
                <a:cs typeface="Calibri" pitchFamily="34" charset="-120"/>
              </a:rPr>
              <a:t>Views</a:t>
            </a:r>
            <a:endParaRPr lang="en-US" sz="1400" dirty="0"/>
          </a:p>
        </p:txBody>
      </p:sp>
      <p:sp>
        <p:nvSpPr>
          <p:cNvPr id="17" name="Text 15"/>
          <p:cNvSpPr txBox="1"/>
          <p:nvPr/>
        </p:nvSpPr>
        <p:spPr>
          <a:xfrm>
            <a:off x="5669280" y="3931920"/>
            <a:ext cx="3017520" cy="274320"/>
          </a:xfrm>
          <a:prstGeom prst="rect">
            <a:avLst/>
          </a:prstGeom>
          <a:noFill/>
          <a:ln/>
        </p:spPr>
        <p:txBody>
          <a:bodyPr wrap="square" lIns="508" tIns="508" rIns="508" bIns="508"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offline-first sync, conflict-safe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ZEROTH REVIEW RECAP</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Core Problem: Multi-Sensor Collisions</a:t>
            </a:r>
            <a:endParaRPr lang="en-US" sz="2800" dirty="0"/>
          </a:p>
        </p:txBody>
      </p:sp>
      <p:sp>
        <p:nvSpPr>
          <p:cNvPr id="5" name="Text 2"/>
          <p:cNvSpPr txBox="1"/>
          <p:nvPr/>
        </p:nvSpPr>
        <p:spPr>
          <a:xfrm>
            <a:off x="457200" y="1188720"/>
            <a:ext cx="3977640" cy="2103120"/>
          </a:xfrm>
          <a:prstGeom prst="rect">
            <a:avLst/>
          </a:prstGeom>
          <a:noFill/>
          <a:ln/>
        </p:spPr>
        <p:txBody>
          <a:bodyPr wrap="square" lIns="508" tIns="508" rIns="508" bIns="508" rtlCol="0" anchor="t"/>
          <a:lstStyle/>
          <a:p>
            <a:pPr marL="177800" indent="-177800">
              <a:spcAft>
                <a:spcPts val="800"/>
              </a:spcAft>
              <a:buSzPct val="100000"/>
              <a:buChar char="•"/>
            </a:pPr>
            <a:r>
              <a:rPr lang="en-US" sz="1400" b="1" dirty="0">
                <a:solidFill>
                  <a:schemeClr val="accent1"/>
                </a:solidFill>
                <a:latin typeface="Calibri" pitchFamily="34" charset="0"/>
                <a:ea typeface="Calibri" pitchFamily="34" charset="-122"/>
                <a:cs typeface="Calibri" pitchFamily="34" charset="-120"/>
              </a:rPr>
              <a:t>Single-client assumption: </a:t>
            </a:r>
            <a:pPr indent="0" marL="0">
              <a:buNone/>
            </a:pPr>
            <a:r>
              <a:rPr lang="en-US" sz="1400" dirty="0">
                <a:solidFill>
                  <a:schemeClr val="tx1"/>
                </a:solidFill>
                <a:latin typeface="Calibri" pitchFamily="34" charset="0"/>
                <a:ea typeface="Calibri" pitchFamily="34" charset="-122"/>
                <a:cs typeface="Calibri" pitchFamily="34" charset="-120"/>
              </a:rPr>
              <a:t>most DBMS coursework has one connected writer</a:t>
            </a:r>
            <a:endParaRPr lang="en-US" sz="1400" dirty="0"/>
          </a:p>
          <a:p>
            <a:pPr marL="177800" indent="-177800">
              <a:spcAft>
                <a:spcPts val="800"/>
              </a:spcAft>
              <a:buSzPct val="100000"/>
              <a:buChar char="•"/>
            </a:pPr>
            <a:r>
              <a:rPr lang="en-US" sz="1400" b="1" dirty="0">
                <a:solidFill>
                  <a:schemeClr val="accent1"/>
                </a:solidFill>
                <a:latin typeface="Calibri" pitchFamily="34" charset="0"/>
                <a:ea typeface="Calibri" pitchFamily="34" charset="-122"/>
                <a:cs typeface="Calibri" pitchFamily="34" charset="-120"/>
              </a:rPr>
              <a:t>Edge reality: </a:t>
            </a:r>
            <a:pPr indent="0" marL="0">
              <a:buNone/>
            </a:pPr>
            <a:r>
              <a:rPr lang="en-US" sz="1400" dirty="0">
                <a:solidFill>
                  <a:schemeClr val="tx1"/>
                </a:solidFill>
                <a:latin typeface="Calibri" pitchFamily="34" charset="0"/>
                <a:ea typeface="Calibri" pitchFamily="34" charset="-122"/>
                <a:cs typeface="Calibri" pitchFamily="34" charset="-120"/>
              </a:rPr>
              <a:t>phone and watch track steps offline all day</a:t>
            </a:r>
            <a:endParaRPr lang="en-US" sz="1400" dirty="0"/>
          </a:p>
          <a:p>
            <a:pPr marL="177800" indent="-177800">
              <a:spcAft>
                <a:spcPts val="800"/>
              </a:spcAft>
              <a:buSzPct val="100000"/>
              <a:buChar char="•"/>
            </a:pPr>
            <a:r>
              <a:rPr lang="en-US" sz="1400" b="1" dirty="0">
                <a:solidFill>
                  <a:schemeClr val="accent1"/>
                </a:solidFill>
                <a:latin typeface="Calibri" pitchFamily="34" charset="0"/>
                <a:ea typeface="Calibri" pitchFamily="34" charset="-122"/>
                <a:cs typeface="Calibri" pitchFamily="34" charset="-120"/>
              </a:rPr>
              <a:t>Collision: </a:t>
            </a:r>
            <a:pPr indent="0" marL="0">
              <a:buNone/>
            </a:pPr>
            <a:r>
              <a:rPr lang="en-US" sz="1400" dirty="0">
                <a:solidFill>
                  <a:schemeClr val="tx1"/>
                </a:solidFill>
                <a:latin typeface="Calibri" pitchFamily="34" charset="0"/>
                <a:ea typeface="Calibri" pitchFamily="34" charset="-122"/>
                <a:cs typeface="Calibri" pitchFamily="34" charset="-120"/>
              </a:rPr>
              <a:t>both sync for the same calendar date with different totals</a:t>
            </a:r>
            <a:endParaRPr lang="en-US" sz="1400" dirty="0"/>
          </a:p>
        </p:txBody>
      </p:sp>
      <p:sp>
        <p:nvSpPr>
          <p:cNvPr id="6" name="Shape 3"/>
          <p:cNvSpPr/>
          <p:nvPr/>
        </p:nvSpPr>
        <p:spPr>
          <a:xfrm>
            <a:off x="457200" y="3429000"/>
            <a:ext cx="3977640" cy="1188720"/>
          </a:xfrm>
          <a:prstGeom prst="roundRect">
            <a:avLst>
              <a:gd name="adj" fmla="val 5385"/>
            </a:avLst>
          </a:prstGeom>
          <a:solidFill>
            <a:schemeClr val="bg2"/>
          </a:solidFill>
          <a:ln w="9525">
            <a:solidFill>
              <a:schemeClr val="accent2"/>
            </a:solidFill>
            <a:prstDash val="solid"/>
          </a:ln>
        </p:spPr>
      </p:sp>
      <p:sp>
        <p:nvSpPr>
          <p:cNvPr id="7" name="Text 4"/>
          <p:cNvSpPr txBox="1"/>
          <p:nvPr/>
        </p:nvSpPr>
        <p:spPr>
          <a:xfrm>
            <a:off x="594360" y="3502152"/>
            <a:ext cx="3749040" cy="1051560"/>
          </a:xfrm>
          <a:prstGeom prst="rect">
            <a:avLst/>
          </a:prstGeom>
          <a:noFill/>
          <a:ln/>
        </p:spPr>
        <p:txBody>
          <a:bodyPr wrap="square" lIns="508" tIns="508" rIns="508" bIns="508" rtlCol="0" anchor="t"/>
          <a:lstStyle/>
          <a:p>
            <a:pPr indent="0" marL="0">
              <a:spcAft>
                <a:spcPts val="400"/>
              </a:spcAft>
              <a:buNone/>
            </a:pPr>
            <a:r>
              <a:rPr lang="en-US" sz="1100" b="1" dirty="0">
                <a:solidFill>
                  <a:schemeClr val="accent2"/>
                </a:solidFill>
                <a:latin typeface="Calibri" pitchFamily="34" charset="0"/>
                <a:ea typeface="Calibri" pitchFamily="34" charset="-122"/>
                <a:cs typeface="Calibri" pitchFamily="34" charset="-120"/>
              </a:rPr>
              <a:t>SECONDARY SCENARIO</a:t>
            </a:r>
            <a:endParaRPr lang="en-US" sz="1400" dirty="0"/>
          </a:p>
          <a:p>
            <a:pPr indent="0" marL="0">
              <a:spcAft>
                <a:spcPts val="400"/>
              </a:spcAft>
              <a:buNone/>
            </a:pPr>
            <a:r>
              <a:rPr lang="en-US" sz="1200" dirty="0">
                <a:solidFill>
                  <a:schemeClr val="tx1"/>
                </a:solidFill>
                <a:latin typeface="Calibri" pitchFamily="34" charset="0"/>
                <a:ea typeface="Calibri" pitchFamily="34" charset="-122"/>
                <a:cs typeface="Calibri" pitchFamily="34" charset="-120"/>
              </a:rPr>
              <a:t>Phone and laptop edit one expense offline. Optimistic version numbers expose the stale write.</a:t>
            </a:r>
            <a:endParaRPr lang="en-US" sz="1400" dirty="0"/>
          </a:p>
        </p:txBody>
      </p:sp>
      <p:sp>
        <p:nvSpPr>
          <p:cNvPr id="8" name="Shape 5"/>
          <p:cNvSpPr/>
          <p:nvPr/>
        </p:nvSpPr>
        <p:spPr>
          <a:xfrm>
            <a:off x="4709160" y="1188720"/>
            <a:ext cx="1920240" cy="1005840"/>
          </a:xfrm>
          <a:prstGeom prst="roundRect">
            <a:avLst>
              <a:gd name="adj" fmla="val 6364"/>
            </a:avLst>
          </a:prstGeom>
          <a:solidFill>
            <a:schemeClr val="bg2"/>
          </a:solidFill>
          <a:ln w="9525">
            <a:solidFill>
              <a:schemeClr val="accent1"/>
            </a:solidFill>
            <a:prstDash val="solid"/>
          </a:ln>
        </p:spPr>
      </p:sp>
      <p:sp>
        <p:nvSpPr>
          <p:cNvPr id="9" name="Text 6"/>
          <p:cNvSpPr txBox="1"/>
          <p:nvPr/>
        </p:nvSpPr>
        <p:spPr>
          <a:xfrm>
            <a:off x="4709160" y="1188720"/>
            <a:ext cx="1920240" cy="1005840"/>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Google Pixel 8</a:t>
            </a:r>
            <a:endParaRPr lang="en-US" sz="1400" dirty="0"/>
          </a:p>
          <a:p>
            <a:pPr algn="ctr" indent="0" marL="0">
              <a:buNone/>
            </a:pPr>
            <a:r>
              <a:rPr lang="en-US" sz="2600" b="1" dirty="0">
                <a:solidFill>
                  <a:schemeClr val="accent1"/>
                </a:solidFill>
                <a:latin typeface="Cambria" pitchFamily="34" charset="0"/>
                <a:ea typeface="Cambria" pitchFamily="34" charset="-122"/>
                <a:cs typeface="Cambria" pitchFamily="34" charset="-120"/>
              </a:rPr>
              <a:t>8,450</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steps, pocket sensor</a:t>
            </a:r>
            <a:endParaRPr lang="en-US" sz="1400" dirty="0"/>
          </a:p>
        </p:txBody>
      </p:sp>
      <p:sp>
        <p:nvSpPr>
          <p:cNvPr id="10" name="Shape 7"/>
          <p:cNvSpPr/>
          <p:nvPr/>
        </p:nvSpPr>
        <p:spPr>
          <a:xfrm>
            <a:off x="6766560" y="1188720"/>
            <a:ext cx="1920240" cy="1005840"/>
          </a:xfrm>
          <a:prstGeom prst="roundRect">
            <a:avLst>
              <a:gd name="adj" fmla="val 6364"/>
            </a:avLst>
          </a:prstGeom>
          <a:solidFill>
            <a:schemeClr val="bg2"/>
          </a:solidFill>
          <a:ln w="9525">
            <a:solidFill>
              <a:schemeClr val="accent3"/>
            </a:solidFill>
            <a:prstDash val="solid"/>
          </a:ln>
        </p:spPr>
      </p:sp>
      <p:sp>
        <p:nvSpPr>
          <p:cNvPr id="11" name="Text 8"/>
          <p:cNvSpPr txBox="1"/>
          <p:nvPr/>
        </p:nvSpPr>
        <p:spPr>
          <a:xfrm>
            <a:off x="6766560" y="1188720"/>
            <a:ext cx="1920240" cy="1005840"/>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CMF Watch Pro 2</a:t>
            </a:r>
            <a:endParaRPr lang="en-US" sz="1400" dirty="0"/>
          </a:p>
          <a:p>
            <a:pPr algn="ctr" indent="0" marL="0">
              <a:buNone/>
            </a:pPr>
            <a:r>
              <a:rPr lang="en-US" sz="2600" b="1" dirty="0">
                <a:solidFill>
                  <a:schemeClr val="accent3"/>
                </a:solidFill>
                <a:latin typeface="Cambria" pitchFamily="34" charset="0"/>
                <a:ea typeface="Cambria" pitchFamily="34" charset="-122"/>
                <a:cs typeface="Cambria" pitchFamily="34" charset="-120"/>
              </a:rPr>
              <a:t>11,280</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steps, wrist sensor</a:t>
            </a:r>
            <a:endParaRPr lang="en-US" sz="1400" dirty="0"/>
          </a:p>
        </p:txBody>
      </p:sp>
      <p:sp>
        <p:nvSpPr>
          <p:cNvPr id="12" name="Shape 9"/>
          <p:cNvSpPr/>
          <p:nvPr/>
        </p:nvSpPr>
        <p:spPr>
          <a:xfrm>
            <a:off x="5669280" y="2194560"/>
            <a:ext cx="0" cy="246888"/>
          </a:xfrm>
          <a:prstGeom prst="line">
            <a:avLst/>
          </a:prstGeom>
          <a:noFill/>
          <a:ln w="22225">
            <a:solidFill>
              <a:schemeClr val="accent1"/>
            </a:solidFill>
            <a:prstDash val="solid"/>
            <a:tailEnd type="triangle"/>
          </a:ln>
        </p:spPr>
      </p:sp>
      <p:sp>
        <p:nvSpPr>
          <p:cNvPr id="13" name="Shape 10"/>
          <p:cNvSpPr/>
          <p:nvPr/>
        </p:nvSpPr>
        <p:spPr>
          <a:xfrm>
            <a:off x="7726680" y="2194560"/>
            <a:ext cx="0" cy="246888"/>
          </a:xfrm>
          <a:prstGeom prst="line">
            <a:avLst/>
          </a:prstGeom>
          <a:noFill/>
          <a:ln w="22225">
            <a:solidFill>
              <a:schemeClr val="accent3"/>
            </a:solidFill>
            <a:prstDash val="solid"/>
            <a:tailEnd type="triangle"/>
          </a:ln>
        </p:spPr>
      </p:sp>
      <p:sp>
        <p:nvSpPr>
          <p:cNvPr id="14" name="Shape 11"/>
          <p:cNvSpPr/>
          <p:nvPr/>
        </p:nvSpPr>
        <p:spPr>
          <a:xfrm>
            <a:off x="4709160" y="2468880"/>
            <a:ext cx="3977640" cy="384048"/>
          </a:xfrm>
          <a:prstGeom prst="roundRect">
            <a:avLst>
              <a:gd name="adj" fmla="val 14286"/>
            </a:avLst>
          </a:prstGeom>
          <a:solidFill>
            <a:schemeClr val="bg2"/>
          </a:solidFill>
          <a:ln w="12700">
            <a:solidFill>
              <a:schemeClr val="accent2"/>
            </a:solidFill>
            <a:prstDash val="solid"/>
          </a:ln>
        </p:spPr>
      </p:sp>
      <p:sp>
        <p:nvSpPr>
          <p:cNvPr id="15" name="Text 12"/>
          <p:cNvSpPr txBox="1"/>
          <p:nvPr/>
        </p:nvSpPr>
        <p:spPr>
          <a:xfrm>
            <a:off x="4709160" y="2468880"/>
            <a:ext cx="3977640" cy="384048"/>
          </a:xfrm>
          <a:prstGeom prst="rect">
            <a:avLst/>
          </a:prstGeom>
          <a:noFill/>
          <a:ln/>
        </p:spPr>
        <p:txBody>
          <a:bodyPr wrap="square" lIns="381" tIns="381" rIns="381" bIns="381"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Same calendar date, two different totals</a:t>
            </a:r>
            <a:endParaRPr lang="en-US" sz="1200" dirty="0"/>
          </a:p>
        </p:txBody>
      </p:sp>
      <p:sp>
        <p:nvSpPr>
          <p:cNvPr id="16" name="Shape 13"/>
          <p:cNvSpPr/>
          <p:nvPr/>
        </p:nvSpPr>
        <p:spPr>
          <a:xfrm>
            <a:off x="4709160" y="3017520"/>
            <a:ext cx="3977640" cy="640080"/>
          </a:xfrm>
          <a:prstGeom prst="roundRect">
            <a:avLst>
              <a:gd name="adj" fmla="val 8571"/>
            </a:avLst>
          </a:prstGeom>
          <a:solidFill>
            <a:schemeClr val="bg2"/>
          </a:solidFill>
          <a:ln w="12700">
            <a:solidFill>
              <a:schemeClr val="accent4"/>
            </a:solidFill>
            <a:prstDash val="solid"/>
          </a:ln>
        </p:spPr>
      </p:sp>
      <p:sp>
        <p:nvSpPr>
          <p:cNvPr id="17" name="Text 14"/>
          <p:cNvSpPr txBox="1"/>
          <p:nvPr/>
        </p:nvSpPr>
        <p:spPr>
          <a:xfrm>
            <a:off x="4709160" y="3017520"/>
            <a:ext cx="3977640" cy="640080"/>
          </a:xfrm>
          <a:prstGeom prst="rect">
            <a:avLst/>
          </a:prstGeom>
          <a:noFill/>
          <a:ln/>
        </p:spPr>
        <p:txBody>
          <a:bodyPr wrap="square" lIns="381" tIns="381" rIns="381" bIns="381"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Naive sync: last writer wins</a:t>
            </a:r>
            <a:endParaRPr lang="en-US" sz="1100" dirty="0"/>
          </a:p>
          <a:p>
            <a:pPr algn="ctr" indent="0" marL="0">
              <a:buNone/>
            </a:pPr>
            <a:r>
              <a:rPr lang="en-US" sz="1100" b="1" dirty="0">
                <a:solidFill>
                  <a:schemeClr val="tx1"/>
                </a:solidFill>
                <a:latin typeface="Calibri" pitchFamily="34" charset="0"/>
                <a:ea typeface="Calibri" pitchFamily="34" charset="-122"/>
                <a:cs typeface="Calibri" pitchFamily="34" charset="-120"/>
              </a:rPr>
              <a:t>One reading is silently lost</a:t>
            </a:r>
            <a:endParaRPr lang="en-US" sz="1100" dirty="0"/>
          </a:p>
        </p:txBody>
      </p:sp>
      <p:sp>
        <p:nvSpPr>
          <p:cNvPr id="18" name="Shape 15"/>
          <p:cNvSpPr/>
          <p:nvPr/>
        </p:nvSpPr>
        <p:spPr>
          <a:xfrm>
            <a:off x="4709160" y="3794760"/>
            <a:ext cx="3977640" cy="777240"/>
          </a:xfrm>
          <a:prstGeom prst="roundRect">
            <a:avLst>
              <a:gd name="adj" fmla="val 7059"/>
            </a:avLst>
          </a:prstGeom>
          <a:solidFill>
            <a:schemeClr val="bg2"/>
          </a:solidFill>
          <a:ln w="12700">
            <a:solidFill>
              <a:schemeClr val="accent3"/>
            </a:solidFill>
            <a:prstDash val="solid"/>
          </a:ln>
        </p:spPr>
      </p:sp>
      <p:sp>
        <p:nvSpPr>
          <p:cNvPr id="19" name="Text 16"/>
          <p:cNvSpPr txBox="1"/>
          <p:nvPr/>
        </p:nvSpPr>
        <p:spPr>
          <a:xfrm>
            <a:off x="4709160" y="3794760"/>
            <a:ext cx="3977640" cy="777240"/>
          </a:xfrm>
          <a:prstGeom prst="rect">
            <a:avLst/>
          </a:prstGeom>
          <a:noFill/>
          <a:ln/>
        </p:spPr>
        <p:txBody>
          <a:bodyPr wrap="square" lIns="381" tIns="381" rIns="381" bIns="381"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EdgeDB: a PL/pgSQL trigger logs both readings</a:t>
            </a:r>
            <a:endParaRPr lang="en-US" sz="1100" dirty="0"/>
          </a:p>
          <a:p>
            <a:pPr algn="ctr" indent="0" marL="0">
              <a:buNone/>
            </a:pPr>
            <a:r>
              <a:rPr lang="en-US" sz="1100" b="1" dirty="0">
                <a:solidFill>
                  <a:schemeClr val="tx1"/>
                </a:solidFill>
                <a:latin typeface="Calibri" pitchFamily="34" charset="0"/>
                <a:ea typeface="Calibri" pitchFamily="34" charset="-122"/>
                <a:cs typeface="Calibri" pitchFamily="34" charset="-120"/>
              </a:rPr>
              <a:t>in conflict_log, applies WEARABLE_HARDWARE_PRIORITY</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ZEROTH REVIEW RECAP</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Conceptual Design: ER / EER Mapping</a:t>
            </a:r>
            <a:endParaRPr lang="en-US" sz="2800" dirty="0"/>
          </a:p>
        </p:txBody>
      </p:sp>
      <p:sp>
        <p:nvSpPr>
          <p:cNvPr id="5" name="Shape 2"/>
          <p:cNvSpPr/>
          <p:nvPr/>
        </p:nvSpPr>
        <p:spPr>
          <a:xfrm>
            <a:off x="1531620" y="1234440"/>
            <a:ext cx="2011680" cy="548640"/>
          </a:xfrm>
          <a:prstGeom prst="roundRect">
            <a:avLst>
              <a:gd name="adj" fmla="val 10000"/>
            </a:avLst>
          </a:prstGeom>
          <a:solidFill>
            <a:schemeClr val="bg2"/>
          </a:solidFill>
          <a:ln w="12700">
            <a:solidFill>
              <a:schemeClr val="accent1"/>
            </a:solidFill>
            <a:prstDash val="solid"/>
          </a:ln>
        </p:spPr>
      </p:sp>
      <p:sp>
        <p:nvSpPr>
          <p:cNvPr id="6" name="Text 3"/>
          <p:cNvSpPr txBox="1"/>
          <p:nvPr/>
        </p:nvSpPr>
        <p:spPr>
          <a:xfrm>
            <a:off x="1531620" y="1234440"/>
            <a:ext cx="2011680" cy="548640"/>
          </a:xfrm>
          <a:prstGeom prst="rect">
            <a:avLst/>
          </a:prstGeom>
          <a:noFill/>
          <a:ln/>
        </p:spPr>
        <p:txBody>
          <a:bodyPr wrap="square" lIns="381" tIns="381" rIns="381" bIns="381"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DEVICE</a:t>
            </a:r>
            <a:endParaRPr lang="en-US" sz="1100" dirty="0"/>
          </a:p>
          <a:p>
            <a:pPr algn="ctr" indent="0" marL="0">
              <a:buNone/>
            </a:pPr>
            <a:r>
              <a:rPr lang="en-US" sz="1100" b="1" dirty="0">
                <a:solidFill>
                  <a:schemeClr val="tx1"/>
                </a:solidFill>
                <a:latin typeface="Calibri" pitchFamily="34" charset="0"/>
                <a:ea typeface="Calibri" pitchFamily="34" charset="-122"/>
                <a:cs typeface="Calibri" pitchFamily="34" charset="-120"/>
              </a:rPr>
              <a:t>device_id (PK)</a:t>
            </a:r>
            <a:endParaRPr lang="en-US" sz="1100" dirty="0"/>
          </a:p>
        </p:txBody>
      </p:sp>
      <p:sp>
        <p:nvSpPr>
          <p:cNvPr id="7" name="Shape 4"/>
          <p:cNvSpPr/>
          <p:nvPr/>
        </p:nvSpPr>
        <p:spPr>
          <a:xfrm>
            <a:off x="4572000" y="1234440"/>
            <a:ext cx="1737360" cy="548640"/>
          </a:xfrm>
          <a:prstGeom prst="roundRect">
            <a:avLst>
              <a:gd name="adj" fmla="val 10000"/>
            </a:avLst>
          </a:prstGeom>
          <a:solidFill>
            <a:schemeClr val="bg2"/>
          </a:solidFill>
          <a:ln w="12700">
            <a:solidFill>
              <a:schemeClr val="accent1"/>
            </a:solidFill>
            <a:prstDash val="solid"/>
          </a:ln>
        </p:spPr>
      </p:sp>
      <p:sp>
        <p:nvSpPr>
          <p:cNvPr id="8" name="Text 5"/>
          <p:cNvSpPr txBox="1"/>
          <p:nvPr/>
        </p:nvSpPr>
        <p:spPr>
          <a:xfrm>
            <a:off x="4572000" y="1234440"/>
            <a:ext cx="1737360" cy="548640"/>
          </a:xfrm>
          <a:prstGeom prst="rect">
            <a:avLst/>
          </a:prstGeom>
          <a:noFill/>
          <a:ln/>
        </p:spPr>
        <p:txBody>
          <a:bodyPr wrap="square" lIns="381" tIns="381" rIns="381" bIns="381"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SYNC_BATCH</a:t>
            </a:r>
            <a:endParaRPr lang="en-US" sz="1200" dirty="0"/>
          </a:p>
        </p:txBody>
      </p:sp>
      <p:sp>
        <p:nvSpPr>
          <p:cNvPr id="9" name="Shape 6"/>
          <p:cNvSpPr/>
          <p:nvPr/>
        </p:nvSpPr>
        <p:spPr>
          <a:xfrm>
            <a:off x="6949440" y="1234440"/>
            <a:ext cx="1737360" cy="548640"/>
          </a:xfrm>
          <a:prstGeom prst="roundRect">
            <a:avLst>
              <a:gd name="adj" fmla="val 10000"/>
            </a:avLst>
          </a:prstGeom>
          <a:solidFill>
            <a:schemeClr val="bg2"/>
          </a:solidFill>
          <a:ln w="12700">
            <a:solidFill>
              <a:schemeClr val="accent1"/>
            </a:solidFill>
            <a:prstDash val="solid"/>
          </a:ln>
        </p:spPr>
      </p:sp>
      <p:sp>
        <p:nvSpPr>
          <p:cNvPr id="10" name="Text 7"/>
          <p:cNvSpPr txBox="1"/>
          <p:nvPr/>
        </p:nvSpPr>
        <p:spPr>
          <a:xfrm>
            <a:off x="6949440" y="1234440"/>
            <a:ext cx="1737360" cy="548640"/>
          </a:xfrm>
          <a:prstGeom prst="rect">
            <a:avLst/>
          </a:prstGeom>
          <a:noFill/>
          <a:ln/>
        </p:spPr>
        <p:txBody>
          <a:bodyPr wrap="square" lIns="381" tIns="381" rIns="381" bIns="381"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EXPENSE</a:t>
            </a:r>
            <a:endParaRPr lang="en-US" sz="1200" dirty="0"/>
          </a:p>
        </p:txBody>
      </p:sp>
      <p:sp>
        <p:nvSpPr>
          <p:cNvPr id="11" name="Shape 8"/>
          <p:cNvSpPr/>
          <p:nvPr/>
        </p:nvSpPr>
        <p:spPr>
          <a:xfrm>
            <a:off x="3543300" y="1508760"/>
            <a:ext cx="1028700" cy="0"/>
          </a:xfrm>
          <a:prstGeom prst="line">
            <a:avLst/>
          </a:prstGeom>
          <a:noFill/>
          <a:ln w="22225">
            <a:solidFill>
              <a:schemeClr val="accent1"/>
            </a:solidFill>
            <a:prstDash val="solid"/>
            <a:tailEnd type="triangle"/>
          </a:ln>
        </p:spPr>
      </p:sp>
      <p:sp>
        <p:nvSpPr>
          <p:cNvPr id="12" name="Text 9"/>
          <p:cNvSpPr txBox="1"/>
          <p:nvPr/>
        </p:nvSpPr>
        <p:spPr>
          <a:xfrm>
            <a:off x="3657600" y="1188720"/>
            <a:ext cx="822960" cy="274320"/>
          </a:xfrm>
          <a:prstGeom prst="rect">
            <a:avLst/>
          </a:prstGeom>
          <a:noFill/>
          <a:ln/>
        </p:spPr>
        <p:txBody>
          <a:bodyPr wrap="square" lIns="508" tIns="508" rIns="508" bIns="508"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1 : N</a:t>
            </a:r>
            <a:endParaRPr lang="en-US" sz="1100" dirty="0"/>
          </a:p>
        </p:txBody>
      </p:sp>
      <p:sp>
        <p:nvSpPr>
          <p:cNvPr id="13" name="Shape 10"/>
          <p:cNvSpPr/>
          <p:nvPr/>
        </p:nvSpPr>
        <p:spPr>
          <a:xfrm>
            <a:off x="6309360" y="1508760"/>
            <a:ext cx="640080" cy="0"/>
          </a:xfrm>
          <a:prstGeom prst="line">
            <a:avLst/>
          </a:prstGeom>
          <a:noFill/>
          <a:ln w="22225">
            <a:solidFill>
              <a:schemeClr val="accent1"/>
            </a:solidFill>
            <a:prstDash val="solid"/>
            <a:tailEnd type="triangle"/>
          </a:ln>
        </p:spPr>
      </p:sp>
      <p:sp>
        <p:nvSpPr>
          <p:cNvPr id="14" name="Text 11"/>
          <p:cNvSpPr txBox="1"/>
          <p:nvPr/>
        </p:nvSpPr>
        <p:spPr>
          <a:xfrm>
            <a:off x="6309360" y="1188720"/>
            <a:ext cx="640080" cy="274320"/>
          </a:xfrm>
          <a:prstGeom prst="rect">
            <a:avLst/>
          </a:prstGeom>
          <a:noFill/>
          <a:ln/>
        </p:spPr>
        <p:txBody>
          <a:bodyPr wrap="square" lIns="0" tIns="0" rIns="0" bIns="0" rtlCol="0" anchor="t"/>
          <a:lstStyle/>
          <a:p>
            <a:pPr algn="ctr" indent="0" marL="0">
              <a:buNone/>
            </a:pPr>
            <a:r>
              <a:rPr lang="en-US" sz="1000" b="1" dirty="0">
                <a:solidFill>
                  <a:schemeClr val="accent2"/>
                </a:solidFill>
                <a:latin typeface="Calibri" pitchFamily="34" charset="0"/>
                <a:ea typeface="Calibri" pitchFamily="34" charset="-122"/>
                <a:cs typeface="Calibri" pitchFamily="34" charset="-120"/>
              </a:rPr>
              <a:t>1 : N</a:t>
            </a:r>
            <a:endParaRPr lang="en-US" sz="1000" dirty="0"/>
          </a:p>
        </p:txBody>
      </p:sp>
      <p:sp>
        <p:nvSpPr>
          <p:cNvPr id="15" name="Shape 12"/>
          <p:cNvSpPr/>
          <p:nvPr/>
        </p:nvSpPr>
        <p:spPr>
          <a:xfrm>
            <a:off x="2500884" y="1783080"/>
            <a:ext cx="0" cy="228600"/>
          </a:xfrm>
          <a:prstGeom prst="line">
            <a:avLst/>
          </a:prstGeom>
          <a:noFill/>
          <a:ln w="19050">
            <a:solidFill>
              <a:schemeClr val="accent1"/>
            </a:solidFill>
            <a:prstDash val="solid"/>
          </a:ln>
        </p:spPr>
      </p:sp>
      <p:sp>
        <p:nvSpPr>
          <p:cNvPr id="16" name="Shape 13"/>
          <p:cNvSpPr/>
          <p:nvPr/>
        </p:nvSpPr>
        <p:spPr>
          <a:xfrm>
            <a:off x="2574036" y="1783080"/>
            <a:ext cx="0" cy="228600"/>
          </a:xfrm>
          <a:prstGeom prst="line">
            <a:avLst/>
          </a:prstGeom>
          <a:noFill/>
          <a:ln w="19050">
            <a:solidFill>
              <a:schemeClr val="accent1"/>
            </a:solidFill>
            <a:prstDash val="solid"/>
          </a:ln>
        </p:spPr>
      </p:sp>
      <p:sp>
        <p:nvSpPr>
          <p:cNvPr id="17" name="Shape 14"/>
          <p:cNvSpPr/>
          <p:nvPr/>
        </p:nvSpPr>
        <p:spPr>
          <a:xfrm>
            <a:off x="2354580" y="2011680"/>
            <a:ext cx="365760" cy="365760"/>
          </a:xfrm>
          <a:prstGeom prst="ellipse">
            <a:avLst/>
          </a:prstGeom>
          <a:solidFill>
            <a:schemeClr val="bg1"/>
          </a:solidFill>
          <a:ln w="19050">
            <a:solidFill>
              <a:schemeClr val="accent1"/>
            </a:solidFill>
            <a:prstDash val="solid"/>
          </a:ln>
        </p:spPr>
      </p:sp>
      <p:sp>
        <p:nvSpPr>
          <p:cNvPr id="18" name="Text 15"/>
          <p:cNvSpPr txBox="1"/>
          <p:nvPr/>
        </p:nvSpPr>
        <p:spPr>
          <a:xfrm>
            <a:off x="2354580" y="201168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d</a:t>
            </a:r>
            <a:endParaRPr lang="en-US" sz="1200" dirty="0"/>
          </a:p>
        </p:txBody>
      </p:sp>
      <p:sp>
        <p:nvSpPr>
          <p:cNvPr id="19" name="Shape 16"/>
          <p:cNvSpPr/>
          <p:nvPr/>
        </p:nvSpPr>
        <p:spPr>
          <a:xfrm flipH="1">
            <a:off x="1120140" y="2377440"/>
            <a:ext cx="1234440" cy="502920"/>
          </a:xfrm>
          <a:prstGeom prst="line">
            <a:avLst/>
          </a:prstGeom>
          <a:noFill/>
          <a:ln w="19050">
            <a:solidFill>
              <a:schemeClr val="accent1"/>
            </a:solidFill>
            <a:prstDash val="solid"/>
          </a:ln>
        </p:spPr>
      </p:sp>
      <p:sp>
        <p:nvSpPr>
          <p:cNvPr id="20" name="Shape 17"/>
          <p:cNvSpPr/>
          <p:nvPr/>
        </p:nvSpPr>
        <p:spPr>
          <a:xfrm>
            <a:off x="2537460" y="2377440"/>
            <a:ext cx="0" cy="502920"/>
          </a:xfrm>
          <a:prstGeom prst="line">
            <a:avLst/>
          </a:prstGeom>
          <a:noFill/>
          <a:ln w="19050">
            <a:solidFill>
              <a:schemeClr val="accent1"/>
            </a:solidFill>
            <a:prstDash val="solid"/>
          </a:ln>
        </p:spPr>
      </p:sp>
      <p:sp>
        <p:nvSpPr>
          <p:cNvPr id="21" name="Shape 18"/>
          <p:cNvSpPr/>
          <p:nvPr/>
        </p:nvSpPr>
        <p:spPr>
          <a:xfrm>
            <a:off x="2720340" y="2286000"/>
            <a:ext cx="1234440" cy="594360"/>
          </a:xfrm>
          <a:prstGeom prst="line">
            <a:avLst/>
          </a:prstGeom>
          <a:noFill/>
          <a:ln w="19050">
            <a:solidFill>
              <a:schemeClr val="accent1"/>
            </a:solidFill>
            <a:prstDash val="solid"/>
          </a:ln>
        </p:spPr>
      </p:sp>
      <p:sp>
        <p:nvSpPr>
          <p:cNvPr id="22" name="Shape 19"/>
          <p:cNvSpPr/>
          <p:nvPr/>
        </p:nvSpPr>
        <p:spPr>
          <a:xfrm>
            <a:off x="457200" y="2880360"/>
            <a:ext cx="1325880" cy="548640"/>
          </a:xfrm>
          <a:prstGeom prst="roundRect">
            <a:avLst>
              <a:gd name="adj" fmla="val 10000"/>
            </a:avLst>
          </a:prstGeom>
          <a:solidFill>
            <a:schemeClr val="bg2"/>
          </a:solidFill>
          <a:ln w="12700">
            <a:solidFill>
              <a:schemeClr val="accent1"/>
            </a:solidFill>
            <a:prstDash val="solid"/>
          </a:ln>
        </p:spPr>
      </p:sp>
      <p:sp>
        <p:nvSpPr>
          <p:cNvPr id="23" name="Text 20"/>
          <p:cNvSpPr txBox="1"/>
          <p:nvPr/>
        </p:nvSpPr>
        <p:spPr>
          <a:xfrm>
            <a:off x="457200" y="2880360"/>
            <a:ext cx="1325880" cy="548640"/>
          </a:xfrm>
          <a:prstGeom prst="rect">
            <a:avLst/>
          </a:prstGeom>
          <a:noFill/>
          <a:ln/>
        </p:spPr>
        <p:txBody>
          <a:bodyPr wrap="square" lIns="381" tIns="381" rIns="381" bIns="381"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PHONE_DEVICE</a:t>
            </a:r>
            <a:endParaRPr lang="en-US" sz="1100" dirty="0"/>
          </a:p>
        </p:txBody>
      </p:sp>
      <p:sp>
        <p:nvSpPr>
          <p:cNvPr id="24" name="Shape 21"/>
          <p:cNvSpPr/>
          <p:nvPr/>
        </p:nvSpPr>
        <p:spPr>
          <a:xfrm>
            <a:off x="1874520" y="2880360"/>
            <a:ext cx="1325880" cy="548640"/>
          </a:xfrm>
          <a:prstGeom prst="roundRect">
            <a:avLst>
              <a:gd name="adj" fmla="val 10000"/>
            </a:avLst>
          </a:prstGeom>
          <a:solidFill>
            <a:schemeClr val="bg2"/>
          </a:solidFill>
          <a:ln w="12700">
            <a:solidFill>
              <a:schemeClr val="accent1"/>
            </a:solidFill>
            <a:prstDash val="solid"/>
          </a:ln>
        </p:spPr>
      </p:sp>
      <p:sp>
        <p:nvSpPr>
          <p:cNvPr id="25" name="Text 22"/>
          <p:cNvSpPr txBox="1"/>
          <p:nvPr/>
        </p:nvSpPr>
        <p:spPr>
          <a:xfrm>
            <a:off x="1874520" y="2880360"/>
            <a:ext cx="1325880" cy="548640"/>
          </a:xfrm>
          <a:prstGeom prst="rect">
            <a:avLst/>
          </a:prstGeom>
          <a:noFill/>
          <a:ln/>
        </p:spPr>
        <p:txBody>
          <a:bodyPr wrap="square" lIns="381" tIns="381" rIns="381" bIns="381"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LAPTOP_DEVICE</a:t>
            </a:r>
            <a:endParaRPr lang="en-US" sz="1100" dirty="0"/>
          </a:p>
        </p:txBody>
      </p:sp>
      <p:sp>
        <p:nvSpPr>
          <p:cNvPr id="26" name="Shape 23"/>
          <p:cNvSpPr/>
          <p:nvPr/>
        </p:nvSpPr>
        <p:spPr>
          <a:xfrm>
            <a:off x="3291840" y="2880360"/>
            <a:ext cx="1325880" cy="548640"/>
          </a:xfrm>
          <a:prstGeom prst="roundRect">
            <a:avLst>
              <a:gd name="adj" fmla="val 10000"/>
            </a:avLst>
          </a:prstGeom>
          <a:solidFill>
            <a:schemeClr val="bg2"/>
          </a:solidFill>
          <a:ln w="12700">
            <a:solidFill>
              <a:schemeClr val="accent1"/>
            </a:solidFill>
            <a:prstDash val="solid"/>
          </a:ln>
        </p:spPr>
      </p:sp>
      <p:sp>
        <p:nvSpPr>
          <p:cNvPr id="27" name="Text 24"/>
          <p:cNvSpPr txBox="1"/>
          <p:nvPr/>
        </p:nvSpPr>
        <p:spPr>
          <a:xfrm>
            <a:off x="3291840" y="2880360"/>
            <a:ext cx="1325880" cy="548640"/>
          </a:xfrm>
          <a:prstGeom prst="rect">
            <a:avLst/>
          </a:prstGeom>
          <a:noFill/>
          <a:ln/>
        </p:spPr>
        <p:txBody>
          <a:bodyPr wrap="square" lIns="381" tIns="381" rIns="381" bIns="381"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WATCH_DEVICE</a:t>
            </a:r>
            <a:endParaRPr lang="en-US" sz="1100" dirty="0"/>
          </a:p>
        </p:txBody>
      </p:sp>
      <p:sp>
        <p:nvSpPr>
          <p:cNvPr id="28" name="Shape 25"/>
          <p:cNvSpPr/>
          <p:nvPr/>
        </p:nvSpPr>
        <p:spPr>
          <a:xfrm>
            <a:off x="6949440" y="2880360"/>
            <a:ext cx="1737360" cy="548640"/>
          </a:xfrm>
          <a:prstGeom prst="roundRect">
            <a:avLst>
              <a:gd name="adj" fmla="val 10000"/>
            </a:avLst>
          </a:prstGeom>
          <a:solidFill>
            <a:schemeClr val="bg2"/>
          </a:solidFill>
          <a:ln w="12700">
            <a:solidFill>
              <a:schemeClr val="accent1"/>
            </a:solidFill>
            <a:prstDash val="solid"/>
          </a:ln>
        </p:spPr>
      </p:sp>
      <p:sp>
        <p:nvSpPr>
          <p:cNvPr id="29" name="Text 26"/>
          <p:cNvSpPr txBox="1"/>
          <p:nvPr/>
        </p:nvSpPr>
        <p:spPr>
          <a:xfrm>
            <a:off x="6949440" y="2880360"/>
            <a:ext cx="1737360" cy="548640"/>
          </a:xfrm>
          <a:prstGeom prst="rect">
            <a:avLst/>
          </a:prstGeom>
          <a:noFill/>
          <a:ln/>
        </p:spPr>
        <p:txBody>
          <a:bodyPr wrap="square" lIns="381" tIns="381" rIns="381" bIns="381"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CATEGORY</a:t>
            </a:r>
            <a:endParaRPr lang="en-US" sz="1200" dirty="0"/>
          </a:p>
        </p:txBody>
      </p:sp>
      <p:sp>
        <p:nvSpPr>
          <p:cNvPr id="30" name="Shape 27"/>
          <p:cNvSpPr/>
          <p:nvPr/>
        </p:nvSpPr>
        <p:spPr>
          <a:xfrm>
            <a:off x="7818120" y="1783080"/>
            <a:ext cx="0" cy="1097280"/>
          </a:xfrm>
          <a:prstGeom prst="line">
            <a:avLst/>
          </a:prstGeom>
          <a:noFill/>
          <a:ln w="19050">
            <a:solidFill>
              <a:schemeClr val="accent1"/>
            </a:solidFill>
            <a:prstDash val="solid"/>
          </a:ln>
        </p:spPr>
      </p:sp>
      <p:sp>
        <p:nvSpPr>
          <p:cNvPr id="31" name="Text 28"/>
          <p:cNvSpPr txBox="1"/>
          <p:nvPr/>
        </p:nvSpPr>
        <p:spPr>
          <a:xfrm>
            <a:off x="7863840" y="2148840"/>
            <a:ext cx="731520" cy="274320"/>
          </a:xfrm>
          <a:prstGeom prst="rect">
            <a:avLst/>
          </a:prstGeom>
          <a:noFill/>
          <a:ln/>
        </p:spPr>
        <p:txBody>
          <a:bodyPr wrap="square" lIns="508" tIns="508" rIns="508" bIns="508"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1 : N</a:t>
            </a:r>
            <a:endParaRPr lang="en-US" sz="1100" dirty="0"/>
          </a:p>
        </p:txBody>
      </p:sp>
      <p:sp>
        <p:nvSpPr>
          <p:cNvPr id="32" name="Shape 29"/>
          <p:cNvSpPr/>
          <p:nvPr/>
        </p:nvSpPr>
        <p:spPr>
          <a:xfrm>
            <a:off x="4937760" y="2880360"/>
            <a:ext cx="1737360" cy="548640"/>
          </a:xfrm>
          <a:prstGeom prst="roundRect">
            <a:avLst>
              <a:gd name="adj" fmla="val 10000"/>
            </a:avLst>
          </a:prstGeom>
          <a:solidFill>
            <a:schemeClr val="bg2"/>
          </a:solidFill>
          <a:ln w="12700">
            <a:solidFill>
              <a:schemeClr val="accent2"/>
            </a:solidFill>
            <a:prstDash val="solid"/>
          </a:ln>
        </p:spPr>
      </p:sp>
      <p:sp>
        <p:nvSpPr>
          <p:cNvPr id="33" name="Text 30"/>
          <p:cNvSpPr txBox="1"/>
          <p:nvPr/>
        </p:nvSpPr>
        <p:spPr>
          <a:xfrm>
            <a:off x="4937760" y="2880360"/>
            <a:ext cx="1737360" cy="548640"/>
          </a:xfrm>
          <a:prstGeom prst="rect">
            <a:avLst/>
          </a:prstGeom>
          <a:noFill/>
          <a:ln/>
        </p:spPr>
        <p:txBody>
          <a:bodyPr wrap="square" lIns="381" tIns="381" rIns="381" bIns="381"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CONFLICT_LOG</a:t>
            </a:r>
            <a:endParaRPr lang="en-US" sz="1200" dirty="0"/>
          </a:p>
        </p:txBody>
      </p:sp>
      <p:sp>
        <p:nvSpPr>
          <p:cNvPr id="34" name="Shape 31"/>
          <p:cNvSpPr/>
          <p:nvPr/>
        </p:nvSpPr>
        <p:spPr>
          <a:xfrm flipH="1">
            <a:off x="5806440" y="1783080"/>
            <a:ext cx="1371600" cy="1097280"/>
          </a:xfrm>
          <a:prstGeom prst="line">
            <a:avLst/>
          </a:prstGeom>
          <a:noFill/>
          <a:ln w="19050">
            <a:solidFill>
              <a:schemeClr val="accent2"/>
            </a:solidFill>
            <a:prstDash val="solid"/>
          </a:ln>
        </p:spPr>
      </p:sp>
      <p:sp>
        <p:nvSpPr>
          <p:cNvPr id="35" name="Text 32"/>
          <p:cNvSpPr txBox="1"/>
          <p:nvPr/>
        </p:nvSpPr>
        <p:spPr>
          <a:xfrm>
            <a:off x="5669280" y="2103120"/>
            <a:ext cx="640080" cy="274320"/>
          </a:xfrm>
          <a:prstGeom prst="rect">
            <a:avLst/>
          </a:prstGeom>
          <a:noFill/>
          <a:ln/>
        </p:spPr>
        <p:txBody>
          <a:bodyPr wrap="square" lIns="508" tIns="508" rIns="508" bIns="508"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1 : N</a:t>
            </a:r>
            <a:endParaRPr lang="en-US" sz="1100" dirty="0"/>
          </a:p>
        </p:txBody>
      </p:sp>
      <p:sp>
        <p:nvSpPr>
          <p:cNvPr id="36" name="Shape 33"/>
          <p:cNvSpPr/>
          <p:nvPr/>
        </p:nvSpPr>
        <p:spPr>
          <a:xfrm>
            <a:off x="457200" y="3886200"/>
            <a:ext cx="4160520" cy="457200"/>
          </a:xfrm>
          <a:prstGeom prst="roundRect">
            <a:avLst>
              <a:gd name="adj" fmla="val 12000"/>
            </a:avLst>
          </a:prstGeom>
          <a:solidFill>
            <a:schemeClr val="bg2"/>
          </a:solidFill>
          <a:ln w="12700">
            <a:solidFill>
              <a:schemeClr val="accent1"/>
            </a:solidFill>
            <a:prstDash val="solid"/>
          </a:ln>
        </p:spPr>
      </p:sp>
      <p:sp>
        <p:nvSpPr>
          <p:cNvPr id="37" name="Text 34"/>
          <p:cNvSpPr txBox="1"/>
          <p:nvPr/>
        </p:nvSpPr>
        <p:spPr>
          <a:xfrm>
            <a:off x="457200" y="3886200"/>
            <a:ext cx="4160520" cy="457200"/>
          </a:xfrm>
          <a:prstGeom prst="rect">
            <a:avLst/>
          </a:prstGeom>
          <a:noFill/>
          <a:ln/>
        </p:spPr>
        <p:txBody>
          <a:bodyPr wrap="square" lIns="381" tIns="381" rIns="381" bIns="381"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DAILY_ACTIVITY  |  UNIQUE (device_id, entry_date)</a:t>
            </a:r>
            <a:endParaRPr lang="en-US" sz="1100" dirty="0"/>
          </a:p>
        </p:txBody>
      </p:sp>
      <p:sp>
        <p:nvSpPr>
          <p:cNvPr id="38" name="Shape 35"/>
          <p:cNvSpPr/>
          <p:nvPr/>
        </p:nvSpPr>
        <p:spPr>
          <a:xfrm>
            <a:off x="1120140" y="3429000"/>
            <a:ext cx="0" cy="457200"/>
          </a:xfrm>
          <a:prstGeom prst="line">
            <a:avLst/>
          </a:prstGeom>
          <a:noFill/>
          <a:ln w="19050">
            <a:solidFill>
              <a:schemeClr val="accent1"/>
            </a:solidFill>
            <a:prstDash val="solid"/>
          </a:ln>
        </p:spPr>
      </p:sp>
      <p:sp>
        <p:nvSpPr>
          <p:cNvPr id="39" name="Shape 36"/>
          <p:cNvSpPr/>
          <p:nvPr/>
        </p:nvSpPr>
        <p:spPr>
          <a:xfrm>
            <a:off x="3954780" y="3429000"/>
            <a:ext cx="0" cy="457200"/>
          </a:xfrm>
          <a:prstGeom prst="line">
            <a:avLst/>
          </a:prstGeom>
          <a:noFill/>
          <a:ln w="19050">
            <a:solidFill>
              <a:schemeClr val="accent1"/>
            </a:solidFill>
            <a:prstDash val="solid"/>
          </a:ln>
        </p:spPr>
      </p:sp>
      <p:sp>
        <p:nvSpPr>
          <p:cNvPr id="40" name="Text 37"/>
          <p:cNvSpPr txBox="1"/>
          <p:nvPr/>
        </p:nvSpPr>
        <p:spPr>
          <a:xfrm>
            <a:off x="1188720" y="3493008"/>
            <a:ext cx="640080" cy="274320"/>
          </a:xfrm>
          <a:prstGeom prst="rect">
            <a:avLst/>
          </a:prstGeom>
          <a:noFill/>
          <a:ln/>
        </p:spPr>
        <p:txBody>
          <a:bodyPr wrap="square" lIns="508" tIns="508" rIns="508" bIns="508"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1 : N</a:t>
            </a:r>
            <a:endParaRPr lang="en-US" sz="1100" dirty="0"/>
          </a:p>
        </p:txBody>
      </p:sp>
      <p:sp>
        <p:nvSpPr>
          <p:cNvPr id="41" name="Text 38"/>
          <p:cNvSpPr txBox="1"/>
          <p:nvPr/>
        </p:nvSpPr>
        <p:spPr>
          <a:xfrm>
            <a:off x="4023360" y="3493008"/>
            <a:ext cx="640080" cy="274320"/>
          </a:xfrm>
          <a:prstGeom prst="rect">
            <a:avLst/>
          </a:prstGeom>
          <a:noFill/>
          <a:ln/>
        </p:spPr>
        <p:txBody>
          <a:bodyPr wrap="square" lIns="508" tIns="508" rIns="508" bIns="508"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1 : N</a:t>
            </a:r>
            <a:endParaRPr lang="en-US" sz="1100" dirty="0"/>
          </a:p>
        </p:txBody>
      </p:sp>
      <p:sp>
        <p:nvSpPr>
          <p:cNvPr id="42" name="Text 39"/>
          <p:cNvSpPr txBox="1"/>
          <p:nvPr/>
        </p:nvSpPr>
        <p:spPr>
          <a:xfrm>
            <a:off x="4937760" y="3657600"/>
            <a:ext cx="3749040" cy="685800"/>
          </a:xfrm>
          <a:prstGeom prst="rect">
            <a:avLst/>
          </a:prstGeom>
          <a:noFill/>
          <a:ln/>
        </p:spPr>
        <p:txBody>
          <a:bodyPr wrap="square" lIns="508" tIns="508" rIns="508" bIns="508"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Table-per-Subtype</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Subtype PK = FK to DEVICE, ON DELETE CASCADE (1:1)</a:t>
            </a:r>
            <a:endParaRPr lang="en-US" sz="1200" dirty="0"/>
          </a:p>
        </p:txBody>
      </p:sp>
      <p:sp>
        <p:nvSpPr>
          <p:cNvPr id="43" name="Text 40"/>
          <p:cNvSpPr txBox="1"/>
          <p:nvPr/>
        </p:nvSpPr>
        <p:spPr>
          <a:xfrm>
            <a:off x="4937760" y="4389120"/>
            <a:ext cx="3749040" cy="274320"/>
          </a:xfrm>
          <a:prstGeom prst="rect">
            <a:avLst/>
          </a:prstGeom>
          <a:noFill/>
          <a:ln/>
        </p:spPr>
        <p:txBody>
          <a:bodyPr wrap="square" lIns="508" tIns="508" rIns="508" bIns="508" rtlCol="0" anchor="t"/>
          <a:lstStyle/>
          <a:p>
            <a:pPr indent="0" marL="0">
              <a:buNone/>
            </a:pPr>
            <a:r>
              <a:rPr lang="en-US" sz="1100" dirty="0">
                <a:solidFill>
                  <a:schemeClr val="tx2"/>
                </a:solidFill>
                <a:latin typeface="Calibri" pitchFamily="34" charset="0"/>
                <a:ea typeface="Calibri" pitchFamily="34" charset="-122"/>
                <a:cs typeface="Calibri" pitchFamily="34" charset="-120"/>
              </a:rPr>
              <a:t>Total, disjoint. Phone and watch both log steps.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REVIEW 1  |  NORMALIZATION</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Normalization: UNF → BCNF</a:t>
            </a:r>
            <a:endParaRPr lang="en-US" sz="2800" dirty="0"/>
          </a:p>
        </p:txBody>
      </p:sp>
      <p:sp>
        <p:nvSpPr>
          <p:cNvPr id="5" name="Shape 2"/>
          <p:cNvSpPr/>
          <p:nvPr/>
        </p:nvSpPr>
        <p:spPr>
          <a:xfrm>
            <a:off x="457200" y="1188720"/>
            <a:ext cx="1600200" cy="411480"/>
          </a:xfrm>
          <a:prstGeom prst="chevron">
            <a:avLst/>
          </a:prstGeom>
          <a:solidFill>
            <a:schemeClr val="accent4"/>
          </a:solidFill>
          <a:ln w="6350">
            <a:solidFill>
              <a:schemeClr val="accent4"/>
            </a:solidFill>
            <a:prstDash val="solid"/>
          </a:ln>
        </p:spPr>
      </p:sp>
      <p:sp>
        <p:nvSpPr>
          <p:cNvPr id="6" name="Text 3"/>
          <p:cNvSpPr txBox="1"/>
          <p:nvPr/>
        </p:nvSpPr>
        <p:spPr>
          <a:xfrm>
            <a:off x="594360" y="1188720"/>
            <a:ext cx="1325880" cy="41148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UNF</a:t>
            </a:r>
            <a:endParaRPr lang="en-US" sz="1400" dirty="0"/>
          </a:p>
        </p:txBody>
      </p:sp>
      <p:sp>
        <p:nvSpPr>
          <p:cNvPr id="7" name="Shape 4"/>
          <p:cNvSpPr/>
          <p:nvPr/>
        </p:nvSpPr>
        <p:spPr>
          <a:xfrm>
            <a:off x="457200" y="1691640"/>
            <a:ext cx="1554480" cy="1874520"/>
          </a:xfrm>
          <a:prstGeom prst="roundRect">
            <a:avLst>
              <a:gd name="adj" fmla="val 4118"/>
            </a:avLst>
          </a:prstGeom>
          <a:solidFill>
            <a:schemeClr val="bg2"/>
          </a:solidFill>
          <a:ln w="9525">
            <a:solidFill>
              <a:schemeClr val="accent6"/>
            </a:solidFill>
            <a:prstDash val="solid"/>
          </a:ln>
        </p:spPr>
      </p:sp>
      <p:sp>
        <p:nvSpPr>
          <p:cNvPr id="8" name="Text 5"/>
          <p:cNvSpPr txBox="1"/>
          <p:nvPr/>
        </p:nvSpPr>
        <p:spPr>
          <a:xfrm>
            <a:off x="512064" y="1755648"/>
            <a:ext cx="1444752" cy="1783080"/>
          </a:xfrm>
          <a:prstGeom prst="rect">
            <a:avLst/>
          </a:prstGeom>
          <a:noFill/>
          <a:ln/>
        </p:spPr>
        <p:txBody>
          <a:bodyPr wrap="square" lIns="508" tIns="508" rIns="508" bIns="508" rtlCol="0" anchor="t"/>
          <a:lstStyle/>
          <a:p>
            <a:pPr indent="0" marL="0">
              <a:buNone/>
            </a:pPr>
            <a:r>
              <a:rPr lang="en-US" sz="1200" dirty="0">
                <a:solidFill>
                  <a:schemeClr val="tx1"/>
                </a:solidFill>
                <a:latin typeface="Calibri" pitchFamily="34" charset="0"/>
                <a:ea typeface="Calibri" pitchFamily="34" charset="-122"/>
                <a:cs typeface="Calibri" pitchFamily="34" charset="-120"/>
              </a:rPr>
              <a:t>One wide relation mixing device, batch, expense, category and step data.</a:t>
            </a:r>
            <a:endParaRPr lang="en-US" sz="1200" dirty="0"/>
          </a:p>
        </p:txBody>
      </p:sp>
      <p:sp>
        <p:nvSpPr>
          <p:cNvPr id="9" name="Shape 6"/>
          <p:cNvSpPr/>
          <p:nvPr/>
        </p:nvSpPr>
        <p:spPr>
          <a:xfrm>
            <a:off x="2103120" y="1188720"/>
            <a:ext cx="1600200" cy="411480"/>
          </a:xfrm>
          <a:prstGeom prst="chevron">
            <a:avLst/>
          </a:prstGeom>
          <a:solidFill>
            <a:schemeClr val="accent2"/>
          </a:solidFill>
          <a:ln w="6350">
            <a:solidFill>
              <a:schemeClr val="accent2"/>
            </a:solidFill>
            <a:prstDash val="solid"/>
          </a:ln>
        </p:spPr>
      </p:sp>
      <p:sp>
        <p:nvSpPr>
          <p:cNvPr id="10" name="Text 7"/>
          <p:cNvSpPr txBox="1"/>
          <p:nvPr/>
        </p:nvSpPr>
        <p:spPr>
          <a:xfrm>
            <a:off x="2240280" y="1188720"/>
            <a:ext cx="1325880" cy="41148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1NF</a:t>
            </a:r>
            <a:endParaRPr lang="en-US" sz="1400" dirty="0"/>
          </a:p>
        </p:txBody>
      </p:sp>
      <p:sp>
        <p:nvSpPr>
          <p:cNvPr id="11" name="Shape 8"/>
          <p:cNvSpPr/>
          <p:nvPr/>
        </p:nvSpPr>
        <p:spPr>
          <a:xfrm>
            <a:off x="2103120" y="1691640"/>
            <a:ext cx="1554480" cy="1874520"/>
          </a:xfrm>
          <a:prstGeom prst="roundRect">
            <a:avLst>
              <a:gd name="adj" fmla="val 4118"/>
            </a:avLst>
          </a:prstGeom>
          <a:solidFill>
            <a:schemeClr val="bg2"/>
          </a:solidFill>
          <a:ln w="9525">
            <a:solidFill>
              <a:schemeClr val="accent6"/>
            </a:solidFill>
            <a:prstDash val="solid"/>
          </a:ln>
        </p:spPr>
      </p:sp>
      <p:sp>
        <p:nvSpPr>
          <p:cNvPr id="12" name="Text 9"/>
          <p:cNvSpPr txBox="1"/>
          <p:nvPr/>
        </p:nvSpPr>
        <p:spPr>
          <a:xfrm>
            <a:off x="2157984" y="1755648"/>
            <a:ext cx="1444752" cy="1783080"/>
          </a:xfrm>
          <a:prstGeom prst="rect">
            <a:avLst/>
          </a:prstGeom>
          <a:noFill/>
          <a:ln/>
        </p:spPr>
        <p:txBody>
          <a:bodyPr wrap="square" lIns="508" tIns="508" rIns="508" bIns="508" rtlCol="0" anchor="t"/>
          <a:lstStyle/>
          <a:p>
            <a:pPr indent="0" marL="0">
              <a:buNone/>
            </a:pPr>
            <a:r>
              <a:rPr lang="en-US" sz="1200" dirty="0">
                <a:solidFill>
                  <a:schemeClr val="tx1"/>
                </a:solidFill>
                <a:latin typeface="Calibri" pitchFamily="34" charset="0"/>
                <a:ea typeface="Calibri" pitchFamily="34" charset="-122"/>
                <a:cs typeface="Calibri" pitchFamily="34" charset="-120"/>
              </a:rPr>
              <a:t>Atomic scalars only. Composite key: (DeviceUUID, ClientBatchSeq, ItemIndex).</a:t>
            </a:r>
            <a:endParaRPr lang="en-US" sz="1200" dirty="0"/>
          </a:p>
        </p:txBody>
      </p:sp>
      <p:sp>
        <p:nvSpPr>
          <p:cNvPr id="13" name="Shape 10"/>
          <p:cNvSpPr/>
          <p:nvPr/>
        </p:nvSpPr>
        <p:spPr>
          <a:xfrm>
            <a:off x="3749040" y="1188720"/>
            <a:ext cx="1600200" cy="411480"/>
          </a:xfrm>
          <a:prstGeom prst="chevron">
            <a:avLst/>
          </a:prstGeom>
          <a:solidFill>
            <a:schemeClr val="accent1"/>
          </a:solidFill>
          <a:ln w="6350">
            <a:solidFill>
              <a:schemeClr val="accent1"/>
            </a:solidFill>
            <a:prstDash val="solid"/>
          </a:ln>
        </p:spPr>
      </p:sp>
      <p:sp>
        <p:nvSpPr>
          <p:cNvPr id="14" name="Text 11"/>
          <p:cNvSpPr txBox="1"/>
          <p:nvPr/>
        </p:nvSpPr>
        <p:spPr>
          <a:xfrm>
            <a:off x="3886200" y="1188720"/>
            <a:ext cx="1325880" cy="41148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2NF</a:t>
            </a:r>
            <a:endParaRPr lang="en-US" sz="1400" dirty="0"/>
          </a:p>
        </p:txBody>
      </p:sp>
      <p:sp>
        <p:nvSpPr>
          <p:cNvPr id="15" name="Shape 12"/>
          <p:cNvSpPr/>
          <p:nvPr/>
        </p:nvSpPr>
        <p:spPr>
          <a:xfrm>
            <a:off x="3749040" y="1691640"/>
            <a:ext cx="1554480" cy="1874520"/>
          </a:xfrm>
          <a:prstGeom prst="roundRect">
            <a:avLst>
              <a:gd name="adj" fmla="val 4118"/>
            </a:avLst>
          </a:prstGeom>
          <a:solidFill>
            <a:schemeClr val="bg2"/>
          </a:solidFill>
          <a:ln w="9525">
            <a:solidFill>
              <a:schemeClr val="accent6"/>
            </a:solidFill>
            <a:prstDash val="solid"/>
          </a:ln>
        </p:spPr>
      </p:sp>
      <p:sp>
        <p:nvSpPr>
          <p:cNvPr id="16" name="Text 13"/>
          <p:cNvSpPr txBox="1"/>
          <p:nvPr/>
        </p:nvSpPr>
        <p:spPr>
          <a:xfrm>
            <a:off x="3803904" y="1755648"/>
            <a:ext cx="1444752" cy="1783080"/>
          </a:xfrm>
          <a:prstGeom prst="rect">
            <a:avLst/>
          </a:prstGeom>
          <a:noFill/>
          <a:ln/>
        </p:spPr>
        <p:txBody>
          <a:bodyPr wrap="square" lIns="508" tIns="508" rIns="508" bIns="508" rtlCol="0" anchor="t"/>
          <a:lstStyle/>
          <a:p>
            <a:pPr indent="0" marL="0">
              <a:buNone/>
            </a:pPr>
            <a:r>
              <a:rPr lang="en-US" sz="1200" dirty="0">
                <a:solidFill>
                  <a:schemeClr val="tx1"/>
                </a:solidFill>
                <a:latin typeface="Calibri" pitchFamily="34" charset="0"/>
                <a:ea typeface="Calibri" pitchFamily="34" charset="-122"/>
                <a:cs typeface="Calibri" pitchFamily="34" charset="-120"/>
              </a:rPr>
              <a:t>Partial FD: DeviceUUID → DeviceName, DeviceType, HardwareInfo. Split out DEVICE and SYNC_BATCH.</a:t>
            </a:r>
            <a:endParaRPr lang="en-US" sz="1200" dirty="0"/>
          </a:p>
        </p:txBody>
      </p:sp>
      <p:sp>
        <p:nvSpPr>
          <p:cNvPr id="17" name="Shape 14"/>
          <p:cNvSpPr/>
          <p:nvPr/>
        </p:nvSpPr>
        <p:spPr>
          <a:xfrm>
            <a:off x="5394960" y="1188720"/>
            <a:ext cx="1600200" cy="411480"/>
          </a:xfrm>
          <a:prstGeom prst="chevron">
            <a:avLst/>
          </a:prstGeom>
          <a:solidFill>
            <a:schemeClr val="accent5"/>
          </a:solidFill>
          <a:ln w="6350">
            <a:solidFill>
              <a:schemeClr val="accent5"/>
            </a:solidFill>
            <a:prstDash val="solid"/>
          </a:ln>
        </p:spPr>
      </p:sp>
      <p:sp>
        <p:nvSpPr>
          <p:cNvPr id="18" name="Text 15"/>
          <p:cNvSpPr txBox="1"/>
          <p:nvPr/>
        </p:nvSpPr>
        <p:spPr>
          <a:xfrm>
            <a:off x="5532120" y="1188720"/>
            <a:ext cx="1325880" cy="41148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3NF</a:t>
            </a:r>
            <a:endParaRPr lang="en-US" sz="1400" dirty="0"/>
          </a:p>
        </p:txBody>
      </p:sp>
      <p:sp>
        <p:nvSpPr>
          <p:cNvPr id="19" name="Shape 16"/>
          <p:cNvSpPr/>
          <p:nvPr/>
        </p:nvSpPr>
        <p:spPr>
          <a:xfrm>
            <a:off x="5394960" y="1691640"/>
            <a:ext cx="1554480" cy="1874520"/>
          </a:xfrm>
          <a:prstGeom prst="roundRect">
            <a:avLst>
              <a:gd name="adj" fmla="val 4118"/>
            </a:avLst>
          </a:prstGeom>
          <a:solidFill>
            <a:schemeClr val="bg2"/>
          </a:solidFill>
          <a:ln w="9525">
            <a:solidFill>
              <a:schemeClr val="accent6"/>
            </a:solidFill>
            <a:prstDash val="solid"/>
          </a:ln>
        </p:spPr>
      </p:sp>
      <p:sp>
        <p:nvSpPr>
          <p:cNvPr id="20" name="Text 17"/>
          <p:cNvSpPr txBox="1"/>
          <p:nvPr/>
        </p:nvSpPr>
        <p:spPr>
          <a:xfrm>
            <a:off x="5449824" y="1755648"/>
            <a:ext cx="1444752" cy="1783080"/>
          </a:xfrm>
          <a:prstGeom prst="rect">
            <a:avLst/>
          </a:prstGeom>
          <a:noFill/>
          <a:ln/>
        </p:spPr>
        <p:txBody>
          <a:bodyPr wrap="square" lIns="508" tIns="508" rIns="508" bIns="508" rtlCol="0" anchor="t"/>
          <a:lstStyle/>
          <a:p>
            <a:pPr indent="0" marL="0">
              <a:buNone/>
            </a:pPr>
            <a:r>
              <a:rPr lang="en-US" sz="1200" dirty="0">
                <a:solidFill>
                  <a:schemeClr val="tx1"/>
                </a:solidFill>
                <a:latin typeface="Calibri" pitchFamily="34" charset="0"/>
                <a:ea typeface="Calibri" pitchFamily="34" charset="-122"/>
                <a:cs typeface="Calibri" pitchFamily="34" charset="-120"/>
              </a:rPr>
              <a:t>Transitive FD: expense_id → category_id → category_name. Split out CATEGORY.</a:t>
            </a:r>
            <a:endParaRPr lang="en-US" sz="1200" dirty="0"/>
          </a:p>
        </p:txBody>
      </p:sp>
      <p:sp>
        <p:nvSpPr>
          <p:cNvPr id="21" name="Shape 18"/>
          <p:cNvSpPr/>
          <p:nvPr/>
        </p:nvSpPr>
        <p:spPr>
          <a:xfrm>
            <a:off x="7040880" y="1188720"/>
            <a:ext cx="1600200" cy="411480"/>
          </a:xfrm>
          <a:prstGeom prst="chevron">
            <a:avLst/>
          </a:prstGeom>
          <a:solidFill>
            <a:schemeClr val="accent3"/>
          </a:solidFill>
          <a:ln w="6350">
            <a:solidFill>
              <a:schemeClr val="accent3"/>
            </a:solidFill>
            <a:prstDash val="solid"/>
          </a:ln>
        </p:spPr>
      </p:sp>
      <p:sp>
        <p:nvSpPr>
          <p:cNvPr id="22" name="Text 19"/>
          <p:cNvSpPr txBox="1"/>
          <p:nvPr/>
        </p:nvSpPr>
        <p:spPr>
          <a:xfrm>
            <a:off x="7178040" y="1188720"/>
            <a:ext cx="1325880" cy="41148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BCNF</a:t>
            </a:r>
            <a:endParaRPr lang="en-US" sz="1400" dirty="0"/>
          </a:p>
        </p:txBody>
      </p:sp>
      <p:sp>
        <p:nvSpPr>
          <p:cNvPr id="23" name="Shape 20"/>
          <p:cNvSpPr/>
          <p:nvPr/>
        </p:nvSpPr>
        <p:spPr>
          <a:xfrm>
            <a:off x="7040880" y="1691640"/>
            <a:ext cx="1554480" cy="1874520"/>
          </a:xfrm>
          <a:prstGeom prst="roundRect">
            <a:avLst>
              <a:gd name="adj" fmla="val 4118"/>
            </a:avLst>
          </a:prstGeom>
          <a:solidFill>
            <a:schemeClr val="bg2"/>
          </a:solidFill>
          <a:ln w="9525">
            <a:solidFill>
              <a:schemeClr val="accent6"/>
            </a:solidFill>
            <a:prstDash val="solid"/>
          </a:ln>
        </p:spPr>
      </p:sp>
      <p:sp>
        <p:nvSpPr>
          <p:cNvPr id="24" name="Text 21"/>
          <p:cNvSpPr txBox="1"/>
          <p:nvPr/>
        </p:nvSpPr>
        <p:spPr>
          <a:xfrm>
            <a:off x="7095744" y="1755648"/>
            <a:ext cx="1444752" cy="1783080"/>
          </a:xfrm>
          <a:prstGeom prst="rect">
            <a:avLst/>
          </a:prstGeom>
          <a:noFill/>
          <a:ln/>
        </p:spPr>
        <p:txBody>
          <a:bodyPr wrap="square" lIns="508" tIns="508" rIns="508" bIns="508" rtlCol="0" anchor="t"/>
          <a:lstStyle/>
          <a:p>
            <a:pPr indent="0" marL="0">
              <a:buNone/>
            </a:pPr>
            <a:r>
              <a:rPr lang="en-US" sz="1200" dirty="0">
                <a:solidFill>
                  <a:schemeClr val="tx1"/>
                </a:solidFill>
                <a:latin typeface="Calibri" pitchFamily="34" charset="0"/>
                <a:ea typeface="Calibri" pitchFamily="34" charset="-122"/>
                <a:cs typeface="Calibri" pitchFamily="34" charset="-120"/>
              </a:rPr>
              <a:t>Every non-trivial X → Y has X as a superkey. No further split.</a:t>
            </a:r>
            <a:endParaRPr lang="en-US" sz="1200" dirty="0"/>
          </a:p>
        </p:txBody>
      </p:sp>
      <p:sp>
        <p:nvSpPr>
          <p:cNvPr id="25" name="Text 22"/>
          <p:cNvSpPr txBox="1"/>
          <p:nvPr/>
        </p:nvSpPr>
        <p:spPr>
          <a:xfrm>
            <a:off x="457200" y="3675888"/>
            <a:ext cx="3657600" cy="228600"/>
          </a:xfrm>
          <a:prstGeom prst="rect">
            <a:avLst/>
          </a:prstGeom>
          <a:noFill/>
          <a:ln/>
        </p:spPr>
        <p:txBody>
          <a:bodyPr wrap="square" lIns="0" tIns="0" rIns="0" bIns="0" rtlCol="0" anchor="t"/>
          <a:lstStyle/>
          <a:p>
            <a:pPr indent="0" marL="0">
              <a:buNone/>
            </a:pPr>
            <a:r>
              <a:rPr lang="en-US" sz="1000" b="1" dirty="0">
                <a:solidFill>
                  <a:schemeClr val="tx2"/>
                </a:solidFill>
                <a:latin typeface="Calibri" pitchFamily="34" charset="0"/>
                <a:ea typeface="Calibri" pitchFamily="34" charset="-122"/>
                <a:cs typeface="Calibri" pitchFamily="34" charset="-120"/>
              </a:rPr>
              <a:t>ANOMALIES REMOVED</a:t>
            </a:r>
            <a:endParaRPr lang="en-US" sz="1000" dirty="0"/>
          </a:p>
        </p:txBody>
      </p:sp>
      <p:sp>
        <p:nvSpPr>
          <p:cNvPr id="26" name="Shape 23"/>
          <p:cNvSpPr/>
          <p:nvPr/>
        </p:nvSpPr>
        <p:spPr>
          <a:xfrm>
            <a:off x="457200" y="3931920"/>
            <a:ext cx="2697480" cy="731520"/>
          </a:xfrm>
          <a:prstGeom prst="roundRect">
            <a:avLst>
              <a:gd name="adj" fmla="val 8750"/>
            </a:avLst>
          </a:prstGeom>
          <a:solidFill>
            <a:schemeClr val="bg2"/>
          </a:solidFill>
          <a:ln w="9525">
            <a:solidFill>
              <a:schemeClr val="accent4"/>
            </a:solidFill>
            <a:prstDash val="solid"/>
          </a:ln>
        </p:spPr>
      </p:sp>
      <p:sp>
        <p:nvSpPr>
          <p:cNvPr id="27" name="Text 24"/>
          <p:cNvSpPr txBox="1"/>
          <p:nvPr/>
        </p:nvSpPr>
        <p:spPr>
          <a:xfrm>
            <a:off x="530352" y="3959352"/>
            <a:ext cx="2560320" cy="676656"/>
          </a:xfrm>
          <a:prstGeom prst="rect">
            <a:avLst/>
          </a:prstGeom>
          <a:noFill/>
          <a:ln/>
        </p:spPr>
        <p:txBody>
          <a:bodyPr wrap="square" lIns="508" tIns="508" rIns="508" bIns="508"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Insertion</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Cannot register a wearable without dummy entries</a:t>
            </a:r>
            <a:endParaRPr lang="en-US" sz="1400" dirty="0"/>
          </a:p>
        </p:txBody>
      </p:sp>
      <p:sp>
        <p:nvSpPr>
          <p:cNvPr id="28" name="Shape 25"/>
          <p:cNvSpPr/>
          <p:nvPr/>
        </p:nvSpPr>
        <p:spPr>
          <a:xfrm>
            <a:off x="3246120" y="3931920"/>
            <a:ext cx="2697480" cy="731520"/>
          </a:xfrm>
          <a:prstGeom prst="roundRect">
            <a:avLst>
              <a:gd name="adj" fmla="val 8750"/>
            </a:avLst>
          </a:prstGeom>
          <a:solidFill>
            <a:schemeClr val="bg2"/>
          </a:solidFill>
          <a:ln w="9525">
            <a:solidFill>
              <a:schemeClr val="accent4"/>
            </a:solidFill>
            <a:prstDash val="solid"/>
          </a:ln>
        </p:spPr>
      </p:sp>
      <p:sp>
        <p:nvSpPr>
          <p:cNvPr id="29" name="Text 26"/>
          <p:cNvSpPr txBox="1"/>
          <p:nvPr/>
        </p:nvSpPr>
        <p:spPr>
          <a:xfrm>
            <a:off x="3319272" y="3959352"/>
            <a:ext cx="2560320" cy="676656"/>
          </a:xfrm>
          <a:prstGeom prst="rect">
            <a:avLst/>
          </a:prstGeom>
          <a:noFill/>
          <a:ln/>
        </p:spPr>
        <p:txBody>
          <a:bodyPr wrap="square" lIns="508" tIns="508" rIns="508" bIns="508"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Deletion</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Deleting steps erases device metadata</a:t>
            </a:r>
            <a:endParaRPr lang="en-US" sz="1400" dirty="0"/>
          </a:p>
        </p:txBody>
      </p:sp>
      <p:sp>
        <p:nvSpPr>
          <p:cNvPr id="30" name="Shape 27"/>
          <p:cNvSpPr/>
          <p:nvPr/>
        </p:nvSpPr>
        <p:spPr>
          <a:xfrm>
            <a:off x="6035040" y="3931920"/>
            <a:ext cx="2697480" cy="731520"/>
          </a:xfrm>
          <a:prstGeom prst="roundRect">
            <a:avLst>
              <a:gd name="adj" fmla="val 8750"/>
            </a:avLst>
          </a:prstGeom>
          <a:solidFill>
            <a:schemeClr val="bg2"/>
          </a:solidFill>
          <a:ln w="9525">
            <a:solidFill>
              <a:schemeClr val="accent4"/>
            </a:solidFill>
            <a:prstDash val="solid"/>
          </a:ln>
        </p:spPr>
      </p:sp>
      <p:sp>
        <p:nvSpPr>
          <p:cNvPr id="31" name="Text 28"/>
          <p:cNvSpPr txBox="1"/>
          <p:nvPr/>
        </p:nvSpPr>
        <p:spPr>
          <a:xfrm>
            <a:off x="6108192" y="3959352"/>
            <a:ext cx="2560320" cy="676656"/>
          </a:xfrm>
          <a:prstGeom prst="rect">
            <a:avLst/>
          </a:prstGeom>
          <a:noFill/>
          <a:ln/>
        </p:spPr>
        <p:txBody>
          <a:bodyPr wrap="square" lIns="508" tIns="508" rIns="508" bIns="508"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Update</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A firmware update needs bulk table modifications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REVIEW 1  |  DDL</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Schema &amp; DDL: Keys and Constraints</a:t>
            </a:r>
            <a:endParaRPr lang="en-US" sz="2800" dirty="0"/>
          </a:p>
        </p:txBody>
      </p:sp>
      <p:sp>
        <p:nvSpPr>
          <p:cNvPr id="5" name="Shape 2"/>
          <p:cNvSpPr/>
          <p:nvPr/>
        </p:nvSpPr>
        <p:spPr>
          <a:xfrm>
            <a:off x="457200" y="1188720"/>
            <a:ext cx="4754880" cy="3429000"/>
          </a:xfrm>
          <a:prstGeom prst="roundRect">
            <a:avLst>
              <a:gd name="adj" fmla="val 1600"/>
            </a:avLst>
          </a:prstGeom>
          <a:solidFill>
            <a:srgbClr val="071429"/>
          </a:solidFill>
          <a:ln w="9525">
            <a:solidFill>
              <a:schemeClr val="accent6"/>
            </a:solidFill>
            <a:prstDash val="solid"/>
          </a:ln>
        </p:spPr>
      </p:sp>
      <p:sp>
        <p:nvSpPr>
          <p:cNvPr id="6" name="Text 3"/>
          <p:cNvSpPr txBox="1"/>
          <p:nvPr/>
        </p:nvSpPr>
        <p:spPr>
          <a:xfrm>
            <a:off x="566928" y="1280160"/>
            <a:ext cx="4535424" cy="3246120"/>
          </a:xfrm>
          <a:prstGeom prst="rect">
            <a:avLst/>
          </a:prstGeom>
          <a:noFill/>
          <a:ln/>
        </p:spPr>
        <p:txBody>
          <a:bodyPr wrap="square" lIns="0" tIns="0" rIns="0" bIns="0" rtlCol="0" anchor="t"/>
          <a:lstStyle/>
          <a:p>
            <a:pPr indent="0" marL="0">
              <a:buNone/>
            </a:pPr>
            <a:r>
              <a:rPr lang="en-US" sz="1000" dirty="0">
                <a:solidFill>
                  <a:srgbClr val="D6E4FF"/>
                </a:solidFill>
                <a:latin typeface="Courier New" pitchFamily="34" charset="0"/>
                <a:ea typeface="Courier New" pitchFamily="34" charset="-122"/>
                <a:cs typeface="Courier New" pitchFamily="34" charset="-120"/>
              </a:rPr>
              <a:t>CREATE TABLE daily_activity (</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activity_id SERIAL PRIMARY KEY,</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device_id INT NOT NULL REFERENCES device,</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entry_date DATE NOT NULL,</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step_count INT CHECK (step_count &gt;= 0),</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version INT NOT NULL DEFAULT 1,</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UNIQUE (device_id, entry_date)</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CREATE TABLE sync_batch (</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batch_id SERIAL PRIMARY KEY,</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device_id INT NOT NULL REFERENCES device,</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client_batch_seq INT NOT NULL,</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UNIQUE (device_id, client_batch_seq)</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CREATE TABLE expense (</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expense_id SERIAL PRIMARY KEY,</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amount NUMERIC(10,2) CHECK (amount &gt; 0),</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category_id INT REFERENCES category,</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version INT NOT NULL DEFAULT 1</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subtypes: PK = FK, ON DELETE CASCADE</a:t>
            </a:r>
            <a:endParaRPr lang="en-US" sz="1000" dirty="0"/>
          </a:p>
        </p:txBody>
      </p:sp>
      <p:sp>
        <p:nvSpPr>
          <p:cNvPr id="7" name="Shape 4"/>
          <p:cNvSpPr/>
          <p:nvPr/>
        </p:nvSpPr>
        <p:spPr>
          <a:xfrm>
            <a:off x="5440680" y="1188720"/>
            <a:ext cx="3246120" cy="777240"/>
          </a:xfrm>
          <a:prstGeom prst="roundRect">
            <a:avLst>
              <a:gd name="adj" fmla="val 8235"/>
            </a:avLst>
          </a:prstGeom>
          <a:solidFill>
            <a:schemeClr val="bg2"/>
          </a:solidFill>
          <a:ln w="9525">
            <a:solidFill>
              <a:schemeClr val="accent6"/>
            </a:solidFill>
            <a:prstDash val="solid"/>
          </a:ln>
        </p:spPr>
      </p:sp>
      <p:sp>
        <p:nvSpPr>
          <p:cNvPr id="8" name="Text 5"/>
          <p:cNvSpPr txBox="1"/>
          <p:nvPr/>
        </p:nvSpPr>
        <p:spPr>
          <a:xfrm>
            <a:off x="5532120" y="1225296"/>
            <a:ext cx="3090672" cy="713232"/>
          </a:xfrm>
          <a:prstGeom prst="rect">
            <a:avLst/>
          </a:prstGeom>
          <a:noFill/>
          <a:ln/>
        </p:spPr>
        <p:txBody>
          <a:bodyPr wrap="square" lIns="508" tIns="508" rIns="508" bIns="508"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CHECK constraints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step_count &gt;= 0 and amount &gt; 0</a:t>
            </a:r>
            <a:endParaRPr lang="en-US" sz="1400" dirty="0"/>
          </a:p>
        </p:txBody>
      </p:sp>
      <p:sp>
        <p:nvSpPr>
          <p:cNvPr id="9" name="Shape 6"/>
          <p:cNvSpPr/>
          <p:nvPr/>
        </p:nvSpPr>
        <p:spPr>
          <a:xfrm>
            <a:off x="5440680" y="2075688"/>
            <a:ext cx="3246120" cy="777240"/>
          </a:xfrm>
          <a:prstGeom prst="roundRect">
            <a:avLst>
              <a:gd name="adj" fmla="val 8235"/>
            </a:avLst>
          </a:prstGeom>
          <a:solidFill>
            <a:schemeClr val="bg2"/>
          </a:solidFill>
          <a:ln w="9525">
            <a:solidFill>
              <a:schemeClr val="accent6"/>
            </a:solidFill>
            <a:prstDash val="solid"/>
          </a:ln>
        </p:spPr>
      </p:sp>
      <p:sp>
        <p:nvSpPr>
          <p:cNvPr id="10" name="Text 7"/>
          <p:cNvSpPr txBox="1"/>
          <p:nvPr/>
        </p:nvSpPr>
        <p:spPr>
          <a:xfrm>
            <a:off x="5532120" y="2112264"/>
            <a:ext cx="3090672" cy="713232"/>
          </a:xfrm>
          <a:prstGeom prst="rect">
            <a:avLst/>
          </a:prstGeom>
          <a:noFill/>
          <a:ln/>
        </p:spPr>
        <p:txBody>
          <a:bodyPr wrap="square" lIns="508" tIns="508" rIns="508" bIns="508"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UNIQUE (device_id, entry_date)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One reading per device per day: where collisions surface</a:t>
            </a:r>
            <a:endParaRPr lang="en-US" sz="1400" dirty="0"/>
          </a:p>
        </p:txBody>
      </p:sp>
      <p:sp>
        <p:nvSpPr>
          <p:cNvPr id="11" name="Shape 8"/>
          <p:cNvSpPr/>
          <p:nvPr/>
        </p:nvSpPr>
        <p:spPr>
          <a:xfrm>
            <a:off x="5440680" y="2962656"/>
            <a:ext cx="3246120" cy="777240"/>
          </a:xfrm>
          <a:prstGeom prst="roundRect">
            <a:avLst>
              <a:gd name="adj" fmla="val 8235"/>
            </a:avLst>
          </a:prstGeom>
          <a:solidFill>
            <a:schemeClr val="bg2"/>
          </a:solidFill>
          <a:ln w="9525">
            <a:solidFill>
              <a:schemeClr val="accent6"/>
            </a:solidFill>
            <a:prstDash val="solid"/>
          </a:ln>
        </p:spPr>
      </p:sp>
      <p:sp>
        <p:nvSpPr>
          <p:cNvPr id="12" name="Text 9"/>
          <p:cNvSpPr txBox="1"/>
          <p:nvPr/>
        </p:nvSpPr>
        <p:spPr>
          <a:xfrm>
            <a:off x="5532120" y="2999232"/>
            <a:ext cx="3090672" cy="713232"/>
          </a:xfrm>
          <a:prstGeom prst="rect">
            <a:avLst/>
          </a:prstGeom>
          <a:noFill/>
          <a:ln/>
        </p:spPr>
        <p:txBody>
          <a:bodyPr wrap="square" lIns="508" tIns="508" rIns="508" bIns="508"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UNIQUE (device_id, client_batch_seq)</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Idempotent replay protection for batches</a:t>
            </a:r>
            <a:endParaRPr lang="en-US" sz="1400" dirty="0"/>
          </a:p>
        </p:txBody>
      </p:sp>
      <p:sp>
        <p:nvSpPr>
          <p:cNvPr id="13" name="Shape 10"/>
          <p:cNvSpPr/>
          <p:nvPr/>
        </p:nvSpPr>
        <p:spPr>
          <a:xfrm>
            <a:off x="5440680" y="3849624"/>
            <a:ext cx="3246120" cy="777240"/>
          </a:xfrm>
          <a:prstGeom prst="roundRect">
            <a:avLst>
              <a:gd name="adj" fmla="val 8235"/>
            </a:avLst>
          </a:prstGeom>
          <a:solidFill>
            <a:schemeClr val="bg2"/>
          </a:solidFill>
          <a:ln w="9525">
            <a:solidFill>
              <a:schemeClr val="accent6"/>
            </a:solidFill>
            <a:prstDash val="solid"/>
          </a:ln>
        </p:spPr>
      </p:sp>
      <p:sp>
        <p:nvSpPr>
          <p:cNvPr id="14" name="Text 11"/>
          <p:cNvSpPr txBox="1"/>
          <p:nvPr/>
        </p:nvSpPr>
        <p:spPr>
          <a:xfrm>
            <a:off x="5532120" y="3886200"/>
            <a:ext cx="3090672" cy="713232"/>
          </a:xfrm>
          <a:prstGeom prst="rect">
            <a:avLst/>
          </a:prstGeom>
          <a:noFill/>
          <a:ln/>
        </p:spPr>
        <p:txBody>
          <a:bodyPr wrap="square" lIns="508" tIns="508" rIns="508" bIns="508"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PK = FK subtypes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phone, laptop, watch: 1:1 with DEVICE, cascade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REVIEW 1  |  DBMS MECHANISMS</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PL/pgSQL Conflict Triggers &amp; Views</a:t>
            </a:r>
            <a:endParaRPr lang="en-US" sz="2800" dirty="0"/>
          </a:p>
        </p:txBody>
      </p:sp>
      <p:sp>
        <p:nvSpPr>
          <p:cNvPr id="5" name="Shape 2"/>
          <p:cNvSpPr/>
          <p:nvPr/>
        </p:nvSpPr>
        <p:spPr>
          <a:xfrm>
            <a:off x="457200" y="1188720"/>
            <a:ext cx="4480560" cy="3429000"/>
          </a:xfrm>
          <a:prstGeom prst="roundRect">
            <a:avLst>
              <a:gd name="adj" fmla="val 1600"/>
            </a:avLst>
          </a:prstGeom>
          <a:solidFill>
            <a:srgbClr val="071429"/>
          </a:solidFill>
          <a:ln w="9525">
            <a:solidFill>
              <a:schemeClr val="accent6"/>
            </a:solidFill>
            <a:prstDash val="solid"/>
          </a:ln>
        </p:spPr>
      </p:sp>
      <p:sp>
        <p:nvSpPr>
          <p:cNvPr id="6" name="Text 3"/>
          <p:cNvSpPr txBox="1"/>
          <p:nvPr/>
        </p:nvSpPr>
        <p:spPr>
          <a:xfrm>
            <a:off x="566928" y="1280160"/>
            <a:ext cx="4261104" cy="3246120"/>
          </a:xfrm>
          <a:prstGeom prst="rect">
            <a:avLst/>
          </a:prstGeom>
          <a:noFill/>
          <a:ln/>
        </p:spPr>
        <p:txBody>
          <a:bodyPr wrap="square" lIns="0" tIns="0" rIns="0" bIns="0" rtlCol="0" anchor="t"/>
          <a:lstStyle/>
          <a:p>
            <a:pPr indent="0" marL="0">
              <a:buNone/>
            </a:pPr>
            <a:r>
              <a:rPr lang="en-US" sz="1000" dirty="0">
                <a:solidFill>
                  <a:srgbClr val="D6E4FF"/>
                </a:solidFill>
                <a:latin typeface="Courier New" pitchFamily="34" charset="0"/>
                <a:ea typeface="Courier New" pitchFamily="34" charset="-122"/>
                <a:cs typeface="Courier New" pitchFamily="34" charset="-120"/>
              </a:rPr>
              <a:t>CREATE FUNCTION fn_activity_conflict()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RETURNS trigger AS $$</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BEGIN</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IF NEW.step_count &lt;&gt; OLD.step_count THEN</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INSERT INTO conflict_log(entry_date,</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reading_a, reading_b, resolution)</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VALUES (OLD.entry_date, OLD.step_count,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NEW.step_count,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'WEARABLE_HARDWARE_PRIORITY');</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IF is_wearable(NEW.device_id)</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THEN RETURN NEW; ELSE RETURN OLD;</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END IF;</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END IF;</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RETURN NEW;</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END; $$ LANGUAGE plpgsql;</a:t>
            </a:r>
            <a:endParaRPr lang="en-US" sz="1000" dirty="0"/>
          </a:p>
          <a:p>
            <a:pPr indent="0" marL="0">
              <a:buNone/>
            </a:pP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CREATE TRIGGER trg_activity_conflict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BEFORE UPDATE ON daily_activity</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FOR EACH ROW EXECUTE FUNCTION</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fn_activity_conflict();</a:t>
            </a:r>
            <a:endParaRPr lang="en-US" sz="1000" dirty="0"/>
          </a:p>
        </p:txBody>
      </p:sp>
      <p:sp>
        <p:nvSpPr>
          <p:cNvPr id="7" name="Shape 4"/>
          <p:cNvSpPr/>
          <p:nvPr/>
        </p:nvSpPr>
        <p:spPr>
          <a:xfrm>
            <a:off x="5120640" y="1188720"/>
            <a:ext cx="3566160" cy="868680"/>
          </a:xfrm>
          <a:prstGeom prst="roundRect">
            <a:avLst>
              <a:gd name="adj" fmla="val 7368"/>
            </a:avLst>
          </a:prstGeom>
          <a:solidFill>
            <a:schemeClr val="bg2"/>
          </a:solidFill>
          <a:ln w="9525">
            <a:solidFill>
              <a:schemeClr val="accent2"/>
            </a:solidFill>
            <a:prstDash val="solid"/>
          </a:ln>
        </p:spPr>
      </p:sp>
      <p:sp>
        <p:nvSpPr>
          <p:cNvPr id="8" name="Text 5"/>
          <p:cNvSpPr txBox="1"/>
          <p:nvPr/>
        </p:nvSpPr>
        <p:spPr>
          <a:xfrm>
            <a:off x="5212080" y="1216152"/>
            <a:ext cx="3401568" cy="822960"/>
          </a:xfrm>
          <a:prstGeom prst="rect">
            <a:avLst/>
          </a:prstGeom>
          <a:noFill/>
          <a:ln/>
        </p:spPr>
        <p:txBody>
          <a:bodyPr wrap="square" lIns="508" tIns="508" rIns="508" bIns="508"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trg_expense_conflict</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BEFORE UPDATE on expense: if NEW.version &lt;= OLD.version, log the stale write and RETURN OLD.</a:t>
            </a:r>
            <a:endParaRPr lang="en-US" sz="1400" dirty="0"/>
          </a:p>
        </p:txBody>
      </p:sp>
      <p:sp>
        <p:nvSpPr>
          <p:cNvPr id="9" name="Text 6"/>
          <p:cNvSpPr txBox="1"/>
          <p:nvPr/>
        </p:nvSpPr>
        <p:spPr>
          <a:xfrm>
            <a:off x="5120640" y="2176272"/>
            <a:ext cx="3566160" cy="228600"/>
          </a:xfrm>
          <a:prstGeom prst="rect">
            <a:avLst/>
          </a:prstGeom>
          <a:noFill/>
          <a:ln/>
        </p:spPr>
        <p:txBody>
          <a:bodyPr wrap="square" lIns="0" tIns="0" rIns="0" bIns="0" rtlCol="0" anchor="t"/>
          <a:lstStyle/>
          <a:p>
            <a:pPr indent="0" marL="0">
              <a:buNone/>
            </a:pPr>
            <a:r>
              <a:rPr lang="en-US" sz="1000" b="1" dirty="0">
                <a:solidFill>
                  <a:schemeClr val="tx2"/>
                </a:solidFill>
                <a:latin typeface="Calibri" pitchFamily="34" charset="0"/>
                <a:ea typeface="Calibri" pitchFamily="34" charset="-122"/>
                <a:cs typeface="Calibri" pitchFamily="34" charset="-120"/>
              </a:rPr>
              <a:t>ANALYTICAL VIEWS</a:t>
            </a:r>
            <a:endParaRPr lang="en-US" sz="1000" dirty="0"/>
          </a:p>
        </p:txBody>
      </p:sp>
      <p:sp>
        <p:nvSpPr>
          <p:cNvPr id="10" name="Shape 7"/>
          <p:cNvSpPr/>
          <p:nvPr/>
        </p:nvSpPr>
        <p:spPr>
          <a:xfrm>
            <a:off x="5120640" y="2450592"/>
            <a:ext cx="3566160" cy="475488"/>
          </a:xfrm>
          <a:prstGeom prst="roundRect">
            <a:avLst>
              <a:gd name="adj" fmla="val 13462"/>
            </a:avLst>
          </a:prstGeom>
          <a:solidFill>
            <a:schemeClr val="bg2"/>
          </a:solidFill>
          <a:ln w="9525">
            <a:solidFill>
              <a:schemeClr val="accent6"/>
            </a:solidFill>
            <a:prstDash val="solid"/>
          </a:ln>
        </p:spPr>
      </p:sp>
      <p:sp>
        <p:nvSpPr>
          <p:cNvPr id="11" name="Text 8"/>
          <p:cNvSpPr txBox="1"/>
          <p:nvPr/>
        </p:nvSpPr>
        <p:spPr>
          <a:xfrm>
            <a:off x="5212080" y="2450592"/>
            <a:ext cx="3429000" cy="475488"/>
          </a:xfrm>
          <a:prstGeom prst="rect">
            <a:avLst/>
          </a:prstGeom>
          <a:noFill/>
          <a:ln/>
        </p:spPr>
        <p:txBody>
          <a:bodyPr wrap="square" lIns="127" tIns="127" rIns="127" bIns="127"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v_daily_activity</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Smartwatch and phone steps per day</a:t>
            </a:r>
            <a:endParaRPr lang="en-US" sz="1400" dirty="0"/>
          </a:p>
        </p:txBody>
      </p:sp>
      <p:sp>
        <p:nvSpPr>
          <p:cNvPr id="12" name="Shape 9"/>
          <p:cNvSpPr/>
          <p:nvPr/>
        </p:nvSpPr>
        <p:spPr>
          <a:xfrm>
            <a:off x="5120640" y="2999232"/>
            <a:ext cx="3566160" cy="475488"/>
          </a:xfrm>
          <a:prstGeom prst="roundRect">
            <a:avLst>
              <a:gd name="adj" fmla="val 13462"/>
            </a:avLst>
          </a:prstGeom>
          <a:solidFill>
            <a:schemeClr val="bg2"/>
          </a:solidFill>
          <a:ln w="9525">
            <a:solidFill>
              <a:schemeClr val="accent6"/>
            </a:solidFill>
            <a:prstDash val="solid"/>
          </a:ln>
        </p:spPr>
      </p:sp>
      <p:sp>
        <p:nvSpPr>
          <p:cNvPr id="13" name="Text 10"/>
          <p:cNvSpPr txBox="1"/>
          <p:nvPr/>
        </p:nvSpPr>
        <p:spPr>
          <a:xfrm>
            <a:off x="5212080" y="2999232"/>
            <a:ext cx="3429000" cy="475488"/>
          </a:xfrm>
          <a:prstGeom prst="rect">
            <a:avLst/>
          </a:prstGeom>
          <a:noFill/>
          <a:ln/>
        </p:spPr>
        <p:txBody>
          <a:bodyPr wrap="square" lIns="127" tIns="127" rIns="127" bIns="127"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v_category_totals</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Spend aggregated per category</a:t>
            </a:r>
            <a:endParaRPr lang="en-US" sz="1400" dirty="0"/>
          </a:p>
        </p:txBody>
      </p:sp>
      <p:sp>
        <p:nvSpPr>
          <p:cNvPr id="14" name="Shape 11"/>
          <p:cNvSpPr/>
          <p:nvPr/>
        </p:nvSpPr>
        <p:spPr>
          <a:xfrm>
            <a:off x="5120640" y="3547872"/>
            <a:ext cx="3566160" cy="475488"/>
          </a:xfrm>
          <a:prstGeom prst="roundRect">
            <a:avLst>
              <a:gd name="adj" fmla="val 13462"/>
            </a:avLst>
          </a:prstGeom>
          <a:solidFill>
            <a:schemeClr val="bg2"/>
          </a:solidFill>
          <a:ln w="9525">
            <a:solidFill>
              <a:schemeClr val="accent6"/>
            </a:solidFill>
            <a:prstDash val="solid"/>
          </a:ln>
        </p:spPr>
      </p:sp>
      <p:sp>
        <p:nvSpPr>
          <p:cNvPr id="15" name="Text 12"/>
          <p:cNvSpPr txBox="1"/>
          <p:nvPr/>
        </p:nvSpPr>
        <p:spPr>
          <a:xfrm>
            <a:off x="5212080" y="3547872"/>
            <a:ext cx="3429000" cy="475488"/>
          </a:xfrm>
          <a:prstGeom prst="rect">
            <a:avLst/>
          </a:prstGeom>
          <a:noFill/>
          <a:ln/>
        </p:spPr>
        <p:txBody>
          <a:bodyPr wrap="square" lIns="127" tIns="127" rIns="127" bIns="127"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v_device_sync_summary</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Sync telemetry per device</a:t>
            </a:r>
            <a:endParaRPr lang="en-US" sz="1400" dirty="0"/>
          </a:p>
        </p:txBody>
      </p:sp>
      <p:sp>
        <p:nvSpPr>
          <p:cNvPr id="16" name="Shape 13"/>
          <p:cNvSpPr/>
          <p:nvPr/>
        </p:nvSpPr>
        <p:spPr>
          <a:xfrm>
            <a:off x="5120640" y="4096512"/>
            <a:ext cx="3566160" cy="475488"/>
          </a:xfrm>
          <a:prstGeom prst="roundRect">
            <a:avLst>
              <a:gd name="adj" fmla="val 13462"/>
            </a:avLst>
          </a:prstGeom>
          <a:solidFill>
            <a:schemeClr val="bg2"/>
          </a:solidFill>
          <a:ln w="9525">
            <a:solidFill>
              <a:schemeClr val="accent6"/>
            </a:solidFill>
            <a:prstDash val="solid"/>
          </a:ln>
        </p:spPr>
      </p:sp>
      <p:sp>
        <p:nvSpPr>
          <p:cNvPr id="17" name="Text 14"/>
          <p:cNvSpPr txBox="1"/>
          <p:nvPr/>
        </p:nvSpPr>
        <p:spPr>
          <a:xfrm>
            <a:off x="5212080" y="4096512"/>
            <a:ext cx="3429000" cy="475488"/>
          </a:xfrm>
          <a:prstGeom prst="rect">
            <a:avLst/>
          </a:prstGeom>
          <a:noFill/>
          <a:ln/>
        </p:spPr>
        <p:txBody>
          <a:bodyPr wrap="square" lIns="127" tIns="127" rIns="127" bIns="127"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v_recent_conflicts</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Audit trail of conflicts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REVIEW 1  |  DML</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DML: Seed Data Population</a:t>
            </a:r>
            <a:endParaRPr lang="en-US" sz="2800" dirty="0"/>
          </a:p>
        </p:txBody>
      </p:sp>
      <p:sp>
        <p:nvSpPr>
          <p:cNvPr id="5" name="Shape 2"/>
          <p:cNvSpPr/>
          <p:nvPr/>
        </p:nvSpPr>
        <p:spPr>
          <a:xfrm>
            <a:off x="457200" y="1188720"/>
            <a:ext cx="1920240" cy="1051560"/>
          </a:xfrm>
          <a:prstGeom prst="roundRect">
            <a:avLst>
              <a:gd name="adj" fmla="val 6087"/>
            </a:avLst>
          </a:prstGeom>
          <a:solidFill>
            <a:schemeClr val="bg2"/>
          </a:solidFill>
          <a:ln w="9525">
            <a:solidFill>
              <a:schemeClr val="accent6"/>
            </a:solidFill>
            <a:prstDash val="solid"/>
          </a:ln>
        </p:spPr>
      </p:sp>
      <p:sp>
        <p:nvSpPr>
          <p:cNvPr id="6" name="Text 3"/>
          <p:cNvSpPr txBox="1"/>
          <p:nvPr/>
        </p:nvSpPr>
        <p:spPr>
          <a:xfrm>
            <a:off x="457200" y="1216152"/>
            <a:ext cx="1920240" cy="59436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7" name="Text 4"/>
          <p:cNvSpPr txBox="1"/>
          <p:nvPr/>
        </p:nvSpPr>
        <p:spPr>
          <a:xfrm>
            <a:off x="457200" y="1810512"/>
            <a:ext cx="1920240" cy="36576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Registered devices</a:t>
            </a:r>
            <a:endParaRPr lang="en-US" sz="1200" dirty="0"/>
          </a:p>
        </p:txBody>
      </p:sp>
      <p:sp>
        <p:nvSpPr>
          <p:cNvPr id="8" name="Shape 5"/>
          <p:cNvSpPr/>
          <p:nvPr/>
        </p:nvSpPr>
        <p:spPr>
          <a:xfrm>
            <a:off x="2560320" y="1188720"/>
            <a:ext cx="1920240" cy="1051560"/>
          </a:xfrm>
          <a:prstGeom prst="roundRect">
            <a:avLst>
              <a:gd name="adj" fmla="val 6087"/>
            </a:avLst>
          </a:prstGeom>
          <a:solidFill>
            <a:schemeClr val="bg2"/>
          </a:solidFill>
          <a:ln w="9525">
            <a:solidFill>
              <a:schemeClr val="accent6"/>
            </a:solidFill>
            <a:prstDash val="solid"/>
          </a:ln>
        </p:spPr>
      </p:sp>
      <p:sp>
        <p:nvSpPr>
          <p:cNvPr id="9" name="Text 6"/>
          <p:cNvSpPr txBox="1"/>
          <p:nvPr/>
        </p:nvSpPr>
        <p:spPr>
          <a:xfrm>
            <a:off x="2560320" y="1216152"/>
            <a:ext cx="1920240" cy="59436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6</a:t>
            </a:r>
            <a:endParaRPr lang="en-US" sz="3600" dirty="0"/>
          </a:p>
        </p:txBody>
      </p:sp>
      <p:sp>
        <p:nvSpPr>
          <p:cNvPr id="10" name="Text 7"/>
          <p:cNvSpPr txBox="1"/>
          <p:nvPr/>
        </p:nvSpPr>
        <p:spPr>
          <a:xfrm>
            <a:off x="2560320" y="1810512"/>
            <a:ext cx="1920240" cy="36576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Categories</a:t>
            </a:r>
            <a:endParaRPr lang="en-US" sz="1200" dirty="0"/>
          </a:p>
        </p:txBody>
      </p:sp>
      <p:sp>
        <p:nvSpPr>
          <p:cNvPr id="11" name="Shape 8"/>
          <p:cNvSpPr/>
          <p:nvPr/>
        </p:nvSpPr>
        <p:spPr>
          <a:xfrm>
            <a:off x="4663440" y="1188720"/>
            <a:ext cx="1920240" cy="1051560"/>
          </a:xfrm>
          <a:prstGeom prst="roundRect">
            <a:avLst>
              <a:gd name="adj" fmla="val 6087"/>
            </a:avLst>
          </a:prstGeom>
          <a:solidFill>
            <a:schemeClr val="bg2"/>
          </a:solidFill>
          <a:ln w="9525">
            <a:solidFill>
              <a:schemeClr val="accent6"/>
            </a:solidFill>
            <a:prstDash val="solid"/>
          </a:ln>
        </p:spPr>
      </p:sp>
      <p:sp>
        <p:nvSpPr>
          <p:cNvPr id="12" name="Text 9"/>
          <p:cNvSpPr txBox="1"/>
          <p:nvPr/>
        </p:nvSpPr>
        <p:spPr>
          <a:xfrm>
            <a:off x="4663440" y="1216152"/>
            <a:ext cx="1920240" cy="59436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12</a:t>
            </a:r>
            <a:endParaRPr lang="en-US" sz="3600" dirty="0"/>
          </a:p>
        </p:txBody>
      </p:sp>
      <p:sp>
        <p:nvSpPr>
          <p:cNvPr id="13" name="Text 10"/>
          <p:cNvSpPr txBox="1"/>
          <p:nvPr/>
        </p:nvSpPr>
        <p:spPr>
          <a:xfrm>
            <a:off x="4663440" y="1810512"/>
            <a:ext cx="1920240" cy="36576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Baseline expenses</a:t>
            </a:r>
            <a:endParaRPr lang="en-US" sz="1200" dirty="0"/>
          </a:p>
        </p:txBody>
      </p:sp>
      <p:sp>
        <p:nvSpPr>
          <p:cNvPr id="14" name="Shape 11"/>
          <p:cNvSpPr/>
          <p:nvPr/>
        </p:nvSpPr>
        <p:spPr>
          <a:xfrm>
            <a:off x="6766560" y="1188720"/>
            <a:ext cx="1920240" cy="1051560"/>
          </a:xfrm>
          <a:prstGeom prst="roundRect">
            <a:avLst>
              <a:gd name="adj" fmla="val 6087"/>
            </a:avLst>
          </a:prstGeom>
          <a:solidFill>
            <a:schemeClr val="bg2"/>
          </a:solidFill>
          <a:ln w="9525">
            <a:solidFill>
              <a:schemeClr val="accent6"/>
            </a:solidFill>
            <a:prstDash val="solid"/>
          </a:ln>
        </p:spPr>
      </p:sp>
      <p:sp>
        <p:nvSpPr>
          <p:cNvPr id="15" name="Text 12"/>
          <p:cNvSpPr txBox="1"/>
          <p:nvPr/>
        </p:nvSpPr>
        <p:spPr>
          <a:xfrm>
            <a:off x="6766560" y="1216152"/>
            <a:ext cx="1920240" cy="59436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7</a:t>
            </a:r>
            <a:endParaRPr lang="en-US" sz="3600" dirty="0"/>
          </a:p>
        </p:txBody>
      </p:sp>
      <p:sp>
        <p:nvSpPr>
          <p:cNvPr id="16" name="Text 13"/>
          <p:cNvSpPr txBox="1"/>
          <p:nvPr/>
        </p:nvSpPr>
        <p:spPr>
          <a:xfrm>
            <a:off x="6766560" y="1810512"/>
            <a:ext cx="1920240" cy="36576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Days of step logs</a:t>
            </a:r>
            <a:endParaRPr lang="en-US" sz="1200" dirty="0"/>
          </a:p>
        </p:txBody>
      </p:sp>
      <p:sp>
        <p:nvSpPr>
          <p:cNvPr id="17" name="Shape 14"/>
          <p:cNvSpPr/>
          <p:nvPr/>
        </p:nvSpPr>
        <p:spPr>
          <a:xfrm>
            <a:off x="457200" y="2468880"/>
            <a:ext cx="5029200" cy="2148840"/>
          </a:xfrm>
          <a:prstGeom prst="roundRect">
            <a:avLst>
              <a:gd name="adj" fmla="val 2553"/>
            </a:avLst>
          </a:prstGeom>
          <a:solidFill>
            <a:srgbClr val="071429"/>
          </a:solidFill>
          <a:ln w="9525">
            <a:solidFill>
              <a:schemeClr val="accent6"/>
            </a:solidFill>
            <a:prstDash val="solid"/>
          </a:ln>
        </p:spPr>
      </p:sp>
      <p:sp>
        <p:nvSpPr>
          <p:cNvPr id="18" name="Text 15"/>
          <p:cNvSpPr txBox="1"/>
          <p:nvPr/>
        </p:nvSpPr>
        <p:spPr>
          <a:xfrm>
            <a:off x="566928" y="2560320"/>
            <a:ext cx="4809744" cy="1965960"/>
          </a:xfrm>
          <a:prstGeom prst="rect">
            <a:avLst/>
          </a:prstGeom>
          <a:noFill/>
          <a:ln/>
        </p:spPr>
        <p:txBody>
          <a:bodyPr wrap="square" lIns="0" tIns="0" rIns="0" bIns="0" rtlCol="0" anchor="t"/>
          <a:lstStyle/>
          <a:p>
            <a:pPr indent="0" marL="0">
              <a:buNone/>
            </a:pPr>
            <a:r>
              <a:rPr lang="en-US" sz="1000" dirty="0">
                <a:solidFill>
                  <a:srgbClr val="D6E4FF"/>
                </a:solidFill>
                <a:latin typeface="Courier New" pitchFamily="34" charset="0"/>
                <a:ea typeface="Courier New" pitchFamily="34" charset="-122"/>
                <a:cs typeface="Courier New" pitchFamily="34" charset="-120"/>
              </a:rPr>
              <a:t>INSERT INTO device(device_uuid, device_name, device_type)</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VALUES (gen_random_uuid(), 'Google Pixel 8', 'PHONE'),</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(gen_random_uuid(), 'ThinkPad X1', 'LAPTOP'),</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(gen_random_uuid(), 'CMF Watch Pro 2', 'WATCH');</a:t>
            </a:r>
            <a:endParaRPr lang="en-US" sz="1000" dirty="0"/>
          </a:p>
          <a:p>
            <a:pPr indent="0" marL="0">
              <a:buNone/>
            </a:pP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INSERT INTO category(name, description) VALUES</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('Food', 'Meals, groceries, cafes'), ...;</a:t>
            </a:r>
            <a:endParaRPr lang="en-US" sz="1000" dirty="0"/>
          </a:p>
          <a:p>
            <a:pPr indent="0" marL="0">
              <a:buNone/>
            </a:pP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INSERT INTO expense(category_id, amount)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VALUES (1, 250.00), ...;</a:t>
            </a:r>
            <a:endParaRPr lang="en-US" sz="1000" dirty="0"/>
          </a:p>
          <a:p>
            <a:pPr indent="0" marL="0">
              <a:buNone/>
            </a:pP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INSERT INTO daily_activity(device_id, entry_date, step_count)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VALUES (3, '2026-10-05', 9120), ...;</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0" y="2468880"/>
          <a:ext cx="3017520" cy="914400"/>
        </p:xfrm>
        <a:graphic>
          <a:graphicData uri="http://schemas.openxmlformats.org/drawingml/2006/table">
            <a:tbl>
              <a:tblPr/>
              <a:tblGrid>
                <a:gridCol w="1051560"/>
                <a:gridCol w="640080"/>
                <a:gridCol w="1325880"/>
              </a:tblGrid>
              <a:tr h="0">
                <a:tc>
                  <a:txBody>
                    <a:bodyPr/>
                    <a:lstStyle/>
                    <a:p>
                      <a:pPr indent="0" marL="0">
                        <a:buNone/>
                      </a:pPr>
                      <a:r>
                        <a:rPr lang="en-US" sz="1100" b="1" dirty="0">
                          <a:solidFill>
                            <a:srgbClr val="0B1E3F"/>
                          </a:solidFill>
                          <a:latin typeface="Calibri" pitchFamily="34" charset="0"/>
                          <a:ea typeface="Calibri" pitchFamily="34" charset="-122"/>
                          <a:cs typeface="Calibri" pitchFamily="34" charset="-120"/>
                        </a:rPr>
                        <a:t>Device</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indent="0" marL="0">
                        <a:buNone/>
                      </a:pPr>
                      <a:r>
                        <a:rPr lang="en-US" sz="1100" b="1" dirty="0">
                          <a:solidFill>
                            <a:srgbClr val="0B1E3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indent="0" marL="0">
                        <a:buNone/>
                      </a:pPr>
                      <a:r>
                        <a:rPr lang="en-US" sz="1100" b="1" dirty="0">
                          <a:solidFill>
                            <a:srgbClr val="0B1E3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Pixel 8</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PHONE</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Expenses and steps</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ThinkPad X1</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LAPTOP</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Edit and review</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CMF Watch Pro 2</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WATCH</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Steps via Health Connect</a:t>
                      </a:r>
                      <a:endParaRPr lang="en-US" sz="1100" dirty="0">
                        <a:latin typeface="Calibri" charset="0"/>
                        <a:ea typeface="Calibri" charset="0"/>
                        <a:cs typeface="Calibri" charset="0"/>
                      </a:endParaRPr>
                    </a:p>
                  </a:txBody>
                  <a:tcPr marL="45720" marR="45720" marT="45720" marB="45720">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bl>
          </a:graphicData>
        </a:graphic>
      </p:graphicFrame>
      <p:sp>
        <p:nvSpPr>
          <p:cNvPr id="20" name="Text 16"/>
          <p:cNvSpPr txBox="1"/>
          <p:nvPr/>
        </p:nvSpPr>
        <p:spPr>
          <a:xfrm>
            <a:off x="5669280" y="4206240"/>
            <a:ext cx="3017520" cy="457200"/>
          </a:xfrm>
          <a:prstGeom prst="rect">
            <a:avLst/>
          </a:prstGeom>
          <a:noFill/>
          <a:ln/>
        </p:spPr>
        <p:txBody>
          <a:bodyPr wrap="square" lIns="508" tIns="508" rIns="508" bIns="508" rtlCol="0" anchor="t"/>
          <a:lstStyle/>
          <a:p>
            <a:pPr indent="0" marL="0">
              <a:buNone/>
            </a:pPr>
            <a:r>
              <a:rPr lang="en-US" sz="1100" dirty="0">
                <a:solidFill>
                  <a:schemeClr val="tx2"/>
                </a:solidFill>
                <a:latin typeface="Calibri" pitchFamily="34" charset="0"/>
                <a:ea typeface="Calibri" pitchFamily="34" charset="-122"/>
                <a:cs typeface="Calibri" pitchFamily="34" charset="-120"/>
              </a:rPr>
              <a:t>Categories: Food, Transport, Shopping, Bills, Health, Entertainment</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REVIEW 2  |  CONNECTIVITY</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Connectivity &amp; ACID Transactions</a:t>
            </a:r>
            <a:endParaRPr lang="en-US" sz="2800" dirty="0"/>
          </a:p>
        </p:txBody>
      </p:sp>
      <p:sp>
        <p:nvSpPr>
          <p:cNvPr id="5" name="Shape 2"/>
          <p:cNvSpPr/>
          <p:nvPr/>
        </p:nvSpPr>
        <p:spPr>
          <a:xfrm>
            <a:off x="457200" y="1188720"/>
            <a:ext cx="4572000" cy="3429000"/>
          </a:xfrm>
          <a:prstGeom prst="roundRect">
            <a:avLst>
              <a:gd name="adj" fmla="val 1600"/>
            </a:avLst>
          </a:prstGeom>
          <a:solidFill>
            <a:srgbClr val="071429"/>
          </a:solidFill>
          <a:ln w="9525">
            <a:solidFill>
              <a:schemeClr val="accent6"/>
            </a:solidFill>
            <a:prstDash val="solid"/>
          </a:ln>
        </p:spPr>
      </p:sp>
      <p:sp>
        <p:nvSpPr>
          <p:cNvPr id="6" name="Text 3"/>
          <p:cNvSpPr txBox="1"/>
          <p:nvPr/>
        </p:nvSpPr>
        <p:spPr>
          <a:xfrm>
            <a:off x="566928" y="1280160"/>
            <a:ext cx="4352544" cy="3246120"/>
          </a:xfrm>
          <a:prstGeom prst="rect">
            <a:avLst/>
          </a:prstGeom>
          <a:noFill/>
          <a:ln/>
        </p:spPr>
        <p:txBody>
          <a:bodyPr wrap="square" lIns="0" tIns="0" rIns="0" bIns="0" rtlCol="0" anchor="t"/>
          <a:lstStyle/>
          <a:p>
            <a:pPr indent="0" marL="0">
              <a:buNone/>
            </a:pPr>
            <a:r>
              <a:rPr lang="en-US" sz="1100" dirty="0">
                <a:solidFill>
                  <a:srgbClr val="D6E4FF"/>
                </a:solidFill>
                <a:latin typeface="Courier New" pitchFamily="34" charset="0"/>
                <a:ea typeface="Courier New" pitchFamily="34" charset="-122"/>
                <a:cs typeface="Courier New" pitchFamily="34" charset="-120"/>
              </a:rPr>
              <a:t>conn = psycopg2.connect(DSN)</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conn.autocommit = False   # explicit txn</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cur = conn.cursor()</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cur.execute(INSERT_BATCH, (dev, seq))</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for row in edge_rows:</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cur.execute(UPSERT_EXPENSE, row)</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conn.commit()          # all rows or none</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except Exception:</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conn.rollback()        # undo partial work</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raise</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finally:</a:t>
            </a:r>
            <a:endParaRPr lang="en-US" sz="1100" dirty="0"/>
          </a:p>
          <a:p>
            <a:pPr indent="0" marL="0">
              <a:buNone/>
            </a:pPr>
            <a:r>
              <a:rPr lang="en-US" sz="1100" dirty="0">
                <a:solidFill>
                  <a:srgbClr val="D6E4FF"/>
                </a:solidFill>
                <a:latin typeface="Courier New" pitchFamily="34" charset="0"/>
                <a:ea typeface="Courier New" pitchFamily="34" charset="-122"/>
                <a:cs typeface="Courier New" pitchFamily="34" charset="-120"/>
              </a:rPr>
              <a:t>    conn.close()</a:t>
            </a:r>
            <a:endParaRPr lang="en-US" sz="1100" dirty="0"/>
          </a:p>
        </p:txBody>
      </p:sp>
      <p:sp>
        <p:nvSpPr>
          <p:cNvPr id="7" name="Shape 4"/>
          <p:cNvSpPr/>
          <p:nvPr/>
        </p:nvSpPr>
        <p:spPr>
          <a:xfrm>
            <a:off x="5257800" y="1188720"/>
            <a:ext cx="1691640" cy="1645920"/>
          </a:xfrm>
          <a:prstGeom prst="roundRect">
            <a:avLst>
              <a:gd name="adj" fmla="val 3889"/>
            </a:avLst>
          </a:prstGeom>
          <a:solidFill>
            <a:schemeClr val="bg2"/>
          </a:solidFill>
          <a:ln w="9525">
            <a:solidFill>
              <a:schemeClr val="accent6"/>
            </a:solidFill>
            <a:prstDash val="solid"/>
          </a:ln>
        </p:spPr>
      </p:sp>
      <p:sp>
        <p:nvSpPr>
          <p:cNvPr id="8" name="Text 5"/>
          <p:cNvSpPr txBox="1"/>
          <p:nvPr/>
        </p:nvSpPr>
        <p:spPr>
          <a:xfrm>
            <a:off x="5349240" y="1234440"/>
            <a:ext cx="548640" cy="5029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A</a:t>
            </a:r>
            <a:endParaRPr lang="en-US" sz="3000" dirty="0"/>
          </a:p>
        </p:txBody>
      </p:sp>
      <p:sp>
        <p:nvSpPr>
          <p:cNvPr id="9" name="Text 6"/>
          <p:cNvSpPr txBox="1"/>
          <p:nvPr/>
        </p:nvSpPr>
        <p:spPr>
          <a:xfrm>
            <a:off x="5349240" y="1755648"/>
            <a:ext cx="1536192" cy="102412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Atomicity</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Whole batch commits, or rolls back</a:t>
            </a:r>
            <a:endParaRPr lang="en-US" sz="1400" dirty="0"/>
          </a:p>
        </p:txBody>
      </p:sp>
      <p:sp>
        <p:nvSpPr>
          <p:cNvPr id="10" name="Shape 7"/>
          <p:cNvSpPr/>
          <p:nvPr/>
        </p:nvSpPr>
        <p:spPr>
          <a:xfrm>
            <a:off x="6995160" y="1188720"/>
            <a:ext cx="1691640" cy="1645920"/>
          </a:xfrm>
          <a:prstGeom prst="roundRect">
            <a:avLst>
              <a:gd name="adj" fmla="val 3889"/>
            </a:avLst>
          </a:prstGeom>
          <a:solidFill>
            <a:schemeClr val="bg2"/>
          </a:solidFill>
          <a:ln w="9525">
            <a:solidFill>
              <a:schemeClr val="accent6"/>
            </a:solidFill>
            <a:prstDash val="solid"/>
          </a:ln>
        </p:spPr>
      </p:sp>
      <p:sp>
        <p:nvSpPr>
          <p:cNvPr id="11" name="Text 8"/>
          <p:cNvSpPr txBox="1"/>
          <p:nvPr/>
        </p:nvSpPr>
        <p:spPr>
          <a:xfrm>
            <a:off x="7086600" y="1234440"/>
            <a:ext cx="548640" cy="5029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C</a:t>
            </a:r>
            <a:endParaRPr lang="en-US" sz="3000" dirty="0"/>
          </a:p>
        </p:txBody>
      </p:sp>
      <p:sp>
        <p:nvSpPr>
          <p:cNvPr id="12" name="Text 9"/>
          <p:cNvSpPr txBox="1"/>
          <p:nvPr/>
        </p:nvSpPr>
        <p:spPr>
          <a:xfrm>
            <a:off x="7086600" y="1755648"/>
            <a:ext cx="1536192" cy="102412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Consistency</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CHECK, FK and UNIQUE reject bad rows</a:t>
            </a:r>
            <a:endParaRPr lang="en-US" sz="1400" dirty="0"/>
          </a:p>
        </p:txBody>
      </p:sp>
      <p:sp>
        <p:nvSpPr>
          <p:cNvPr id="13" name="Shape 10"/>
          <p:cNvSpPr/>
          <p:nvPr/>
        </p:nvSpPr>
        <p:spPr>
          <a:xfrm>
            <a:off x="5257800" y="2971800"/>
            <a:ext cx="1691640" cy="1645920"/>
          </a:xfrm>
          <a:prstGeom prst="roundRect">
            <a:avLst>
              <a:gd name="adj" fmla="val 3889"/>
            </a:avLst>
          </a:prstGeom>
          <a:solidFill>
            <a:schemeClr val="bg2"/>
          </a:solidFill>
          <a:ln w="9525">
            <a:solidFill>
              <a:schemeClr val="accent6"/>
            </a:solidFill>
            <a:prstDash val="solid"/>
          </a:ln>
        </p:spPr>
      </p:sp>
      <p:sp>
        <p:nvSpPr>
          <p:cNvPr id="14" name="Text 11"/>
          <p:cNvSpPr txBox="1"/>
          <p:nvPr/>
        </p:nvSpPr>
        <p:spPr>
          <a:xfrm>
            <a:off x="5349240" y="3017520"/>
            <a:ext cx="548640" cy="5029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I</a:t>
            </a:r>
            <a:endParaRPr lang="en-US" sz="3000" dirty="0"/>
          </a:p>
        </p:txBody>
      </p:sp>
      <p:sp>
        <p:nvSpPr>
          <p:cNvPr id="15" name="Text 12"/>
          <p:cNvSpPr txBox="1"/>
          <p:nvPr/>
        </p:nvSpPr>
        <p:spPr>
          <a:xfrm>
            <a:off x="5349240" y="3538728"/>
            <a:ext cx="1536192" cy="102412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Isolation</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Row locks serialize concurrent updates</a:t>
            </a:r>
            <a:endParaRPr lang="en-US" sz="1400" dirty="0"/>
          </a:p>
        </p:txBody>
      </p:sp>
      <p:sp>
        <p:nvSpPr>
          <p:cNvPr id="16" name="Shape 13"/>
          <p:cNvSpPr/>
          <p:nvPr/>
        </p:nvSpPr>
        <p:spPr>
          <a:xfrm>
            <a:off x="6995160" y="2971800"/>
            <a:ext cx="1691640" cy="1645920"/>
          </a:xfrm>
          <a:prstGeom prst="roundRect">
            <a:avLst>
              <a:gd name="adj" fmla="val 3889"/>
            </a:avLst>
          </a:prstGeom>
          <a:solidFill>
            <a:schemeClr val="bg2"/>
          </a:solidFill>
          <a:ln w="9525">
            <a:solidFill>
              <a:schemeClr val="accent6"/>
            </a:solidFill>
            <a:prstDash val="solid"/>
          </a:ln>
        </p:spPr>
      </p:sp>
      <p:sp>
        <p:nvSpPr>
          <p:cNvPr id="17" name="Text 14"/>
          <p:cNvSpPr txBox="1"/>
          <p:nvPr/>
        </p:nvSpPr>
        <p:spPr>
          <a:xfrm>
            <a:off x="7086600" y="3017520"/>
            <a:ext cx="548640" cy="5029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D</a:t>
            </a:r>
            <a:endParaRPr lang="en-US" sz="3000" dirty="0"/>
          </a:p>
        </p:txBody>
      </p:sp>
      <p:sp>
        <p:nvSpPr>
          <p:cNvPr id="18" name="Text 15"/>
          <p:cNvSpPr txBox="1"/>
          <p:nvPr/>
        </p:nvSpPr>
        <p:spPr>
          <a:xfrm>
            <a:off x="7086600" y="3538728"/>
            <a:ext cx="1536192" cy="102412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Durability</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Committed batches survive via WAL</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REVIEW 2  |  BUSINESS LOGIC</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Business Logic: Edge, ML, Sync Engine</a:t>
            </a:r>
            <a:endParaRPr lang="en-US" sz="2800" dirty="0"/>
          </a:p>
        </p:txBody>
      </p:sp>
      <p:sp>
        <p:nvSpPr>
          <p:cNvPr id="5" name="Shape 2"/>
          <p:cNvSpPr/>
          <p:nvPr/>
        </p:nvSpPr>
        <p:spPr>
          <a:xfrm>
            <a:off x="457200" y="1188720"/>
            <a:ext cx="2514600" cy="1965960"/>
          </a:xfrm>
          <a:prstGeom prst="roundRect">
            <a:avLst>
              <a:gd name="adj" fmla="val 3256"/>
            </a:avLst>
          </a:prstGeom>
          <a:solidFill>
            <a:schemeClr val="bg2"/>
          </a:solidFill>
          <a:ln w="9525">
            <a:solidFill>
              <a:schemeClr val="accent6"/>
            </a:solidFill>
            <a:prstDash val="solid"/>
          </a:ln>
        </p:spPr>
      </p:sp>
      <p:sp>
        <p:nvSpPr>
          <p:cNvPr id="6" name="Text 3"/>
          <p:cNvSpPr txBox="1"/>
          <p:nvPr/>
        </p:nvSpPr>
        <p:spPr>
          <a:xfrm>
            <a:off x="548640" y="1243584"/>
            <a:ext cx="2331720" cy="320040"/>
          </a:xfrm>
          <a:prstGeom prst="rect">
            <a:avLst/>
          </a:prstGeom>
          <a:noFill/>
          <a:ln/>
        </p:spPr>
        <p:txBody>
          <a:bodyPr wrap="square" lIns="508" tIns="508" rIns="508" bIns="508"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1  Edge SQLite buffer</a:t>
            </a:r>
            <a:endParaRPr lang="en-US" sz="1400" dirty="0"/>
          </a:p>
        </p:txBody>
      </p:sp>
      <p:sp>
        <p:nvSpPr>
          <p:cNvPr id="7" name="Text 4"/>
          <p:cNvSpPr txBox="1"/>
          <p:nvPr/>
        </p:nvSpPr>
        <p:spPr>
          <a:xfrm>
            <a:off x="548640" y="1627632"/>
            <a:ext cx="2331720" cy="1463040"/>
          </a:xfrm>
          <a:prstGeom prst="rect">
            <a:avLst/>
          </a:prstGeom>
          <a:noFill/>
          <a:ln/>
        </p:spPr>
        <p:txBody>
          <a:bodyPr wrap="square" lIns="381" tIns="381" rIns="381" bIns="381" rtlCol="0" anchor="t"/>
          <a:lstStyle/>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Append-only, zero-network writes</a:t>
            </a:r>
            <a:endParaRPr lang="en-US" sz="1200" dirty="0"/>
          </a:p>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Local row version and sync cursor</a:t>
            </a:r>
            <a:endParaRPr lang="en-US" sz="1200" dirty="0"/>
          </a:p>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Fully usable offline</a:t>
            </a:r>
            <a:endParaRPr lang="en-US" sz="1200" dirty="0"/>
          </a:p>
        </p:txBody>
      </p:sp>
      <p:sp>
        <p:nvSpPr>
          <p:cNvPr id="8" name="Shape 5"/>
          <p:cNvSpPr/>
          <p:nvPr/>
        </p:nvSpPr>
        <p:spPr>
          <a:xfrm>
            <a:off x="2999232" y="2176272"/>
            <a:ext cx="292608" cy="0"/>
          </a:xfrm>
          <a:prstGeom prst="line">
            <a:avLst/>
          </a:prstGeom>
          <a:noFill/>
          <a:ln w="22225">
            <a:solidFill>
              <a:schemeClr val="accent1"/>
            </a:solidFill>
            <a:prstDash val="solid"/>
            <a:tailEnd type="triangle"/>
          </a:ln>
        </p:spPr>
      </p:sp>
      <p:sp>
        <p:nvSpPr>
          <p:cNvPr id="9" name="Shape 6"/>
          <p:cNvSpPr/>
          <p:nvPr/>
        </p:nvSpPr>
        <p:spPr>
          <a:xfrm>
            <a:off x="3314700" y="1188720"/>
            <a:ext cx="2514600" cy="1965960"/>
          </a:xfrm>
          <a:prstGeom prst="roundRect">
            <a:avLst>
              <a:gd name="adj" fmla="val 3256"/>
            </a:avLst>
          </a:prstGeom>
          <a:solidFill>
            <a:schemeClr val="bg2"/>
          </a:solidFill>
          <a:ln w="9525">
            <a:solidFill>
              <a:schemeClr val="accent6"/>
            </a:solidFill>
            <a:prstDash val="solid"/>
          </a:ln>
        </p:spPr>
      </p:sp>
      <p:sp>
        <p:nvSpPr>
          <p:cNvPr id="10" name="Text 7"/>
          <p:cNvSpPr txBox="1"/>
          <p:nvPr/>
        </p:nvSpPr>
        <p:spPr>
          <a:xfrm>
            <a:off x="3406140" y="1243584"/>
            <a:ext cx="2331720" cy="320040"/>
          </a:xfrm>
          <a:prstGeom prst="rect">
            <a:avLst/>
          </a:prstGeom>
          <a:noFill/>
          <a:ln/>
        </p:spPr>
        <p:txBody>
          <a:bodyPr wrap="square" lIns="508" tIns="508" rIns="508" bIns="508"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2  On-device ML</a:t>
            </a:r>
            <a:endParaRPr lang="en-US" sz="1400" dirty="0"/>
          </a:p>
        </p:txBody>
      </p:sp>
      <p:sp>
        <p:nvSpPr>
          <p:cNvPr id="11" name="Text 8"/>
          <p:cNvSpPr txBox="1"/>
          <p:nvPr/>
        </p:nvSpPr>
        <p:spPr>
          <a:xfrm>
            <a:off x="3406140" y="1627632"/>
            <a:ext cx="2331720" cy="1463040"/>
          </a:xfrm>
          <a:prstGeom prst="rect">
            <a:avLst/>
          </a:prstGeom>
          <a:noFill/>
          <a:ln/>
        </p:spPr>
        <p:txBody>
          <a:bodyPr wrap="square" lIns="381" tIns="381" rIns="381" bIns="381" rtlCol="0" anchor="t"/>
          <a:lstStyle/>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Keyword NLP classifier</a:t>
            </a:r>
            <a:endParaRPr lang="en-US" sz="1200" dirty="0"/>
          </a:p>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Outputs category + confidence 0 to 1</a:t>
            </a:r>
            <a:endParaRPr lang="en-US" sz="1200" dirty="0"/>
          </a:p>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Runs before sync, no cloud call</a:t>
            </a:r>
            <a:endParaRPr lang="en-US" sz="1200" dirty="0"/>
          </a:p>
        </p:txBody>
      </p:sp>
      <p:sp>
        <p:nvSpPr>
          <p:cNvPr id="12" name="Shape 9"/>
          <p:cNvSpPr/>
          <p:nvPr/>
        </p:nvSpPr>
        <p:spPr>
          <a:xfrm>
            <a:off x="5856732" y="2176272"/>
            <a:ext cx="292608" cy="0"/>
          </a:xfrm>
          <a:prstGeom prst="line">
            <a:avLst/>
          </a:prstGeom>
          <a:noFill/>
          <a:ln w="22225">
            <a:solidFill>
              <a:schemeClr val="accent1"/>
            </a:solidFill>
            <a:prstDash val="solid"/>
            <a:tailEnd type="triangle"/>
          </a:ln>
        </p:spPr>
      </p:sp>
      <p:sp>
        <p:nvSpPr>
          <p:cNvPr id="13" name="Shape 10"/>
          <p:cNvSpPr/>
          <p:nvPr/>
        </p:nvSpPr>
        <p:spPr>
          <a:xfrm>
            <a:off x="6172200" y="1188720"/>
            <a:ext cx="2514600" cy="1965960"/>
          </a:xfrm>
          <a:prstGeom prst="roundRect">
            <a:avLst>
              <a:gd name="adj" fmla="val 3256"/>
            </a:avLst>
          </a:prstGeom>
          <a:solidFill>
            <a:schemeClr val="bg2"/>
          </a:solidFill>
          <a:ln w="9525">
            <a:solidFill>
              <a:schemeClr val="accent6"/>
            </a:solidFill>
            <a:prstDash val="solid"/>
          </a:ln>
        </p:spPr>
      </p:sp>
      <p:sp>
        <p:nvSpPr>
          <p:cNvPr id="14" name="Text 11"/>
          <p:cNvSpPr txBox="1"/>
          <p:nvPr/>
        </p:nvSpPr>
        <p:spPr>
          <a:xfrm>
            <a:off x="6263640" y="1243584"/>
            <a:ext cx="2331720" cy="320040"/>
          </a:xfrm>
          <a:prstGeom prst="rect">
            <a:avLst/>
          </a:prstGeom>
          <a:noFill/>
          <a:ln/>
        </p:spPr>
        <p:txBody>
          <a:bodyPr wrap="square" lIns="508" tIns="508" rIns="508" bIns="508"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3  Sync engine</a:t>
            </a:r>
            <a:endParaRPr lang="en-US" sz="1400" dirty="0"/>
          </a:p>
        </p:txBody>
      </p:sp>
      <p:sp>
        <p:nvSpPr>
          <p:cNvPr id="15" name="Text 12"/>
          <p:cNvSpPr txBox="1"/>
          <p:nvPr/>
        </p:nvSpPr>
        <p:spPr>
          <a:xfrm>
            <a:off x="6263640" y="1627632"/>
            <a:ext cx="2331720" cy="1463040"/>
          </a:xfrm>
          <a:prstGeom prst="rect">
            <a:avLst/>
          </a:prstGeom>
          <a:noFill/>
          <a:ln/>
        </p:spPr>
        <p:txBody>
          <a:bodyPr wrap="square" lIns="381" tIns="381" rIns="381" bIns="381" rtlCol="0" anchor="t"/>
          <a:lstStyle/>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Reads rows past the cursor</a:t>
            </a:r>
            <a:endParaRPr lang="en-US" sz="1200" dirty="0"/>
          </a:p>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One PostgreSQL transaction per batch</a:t>
            </a:r>
            <a:endParaRPr lang="en-US" sz="1200" dirty="0"/>
          </a:p>
          <a:p>
            <a:pPr marL="152400" indent="-1524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Replay-safe via UNIQUE batch key</a:t>
            </a:r>
            <a:endParaRPr lang="en-US" sz="1200" dirty="0"/>
          </a:p>
        </p:txBody>
      </p:sp>
      <p:sp>
        <p:nvSpPr>
          <p:cNvPr id="16" name="Shape 13"/>
          <p:cNvSpPr/>
          <p:nvPr/>
        </p:nvSpPr>
        <p:spPr>
          <a:xfrm>
            <a:off x="457200" y="3337560"/>
            <a:ext cx="5029200" cy="1280160"/>
          </a:xfrm>
          <a:prstGeom prst="roundRect">
            <a:avLst>
              <a:gd name="adj" fmla="val 4286"/>
            </a:avLst>
          </a:prstGeom>
          <a:solidFill>
            <a:srgbClr val="071429"/>
          </a:solidFill>
          <a:ln w="9525">
            <a:solidFill>
              <a:schemeClr val="accent6"/>
            </a:solidFill>
            <a:prstDash val="solid"/>
          </a:ln>
        </p:spPr>
      </p:sp>
      <p:sp>
        <p:nvSpPr>
          <p:cNvPr id="17" name="Text 14"/>
          <p:cNvSpPr txBox="1"/>
          <p:nvPr/>
        </p:nvSpPr>
        <p:spPr>
          <a:xfrm>
            <a:off x="566928" y="3429000"/>
            <a:ext cx="4809744" cy="1097280"/>
          </a:xfrm>
          <a:prstGeom prst="rect">
            <a:avLst/>
          </a:prstGeom>
          <a:noFill/>
          <a:ln/>
        </p:spPr>
        <p:txBody>
          <a:bodyPr wrap="square" lIns="0" tIns="0" rIns="0" bIns="0" rtlCol="0" anchor="t"/>
          <a:lstStyle/>
          <a:p>
            <a:pPr indent="0" marL="0">
              <a:buNone/>
            </a:pPr>
            <a:r>
              <a:rPr lang="en-US" sz="1000" dirty="0">
                <a:solidFill>
                  <a:srgbClr val="D6E4FF"/>
                </a:solidFill>
                <a:latin typeface="Courier New" pitchFamily="34" charset="0"/>
                <a:ea typeface="Courier New" pitchFamily="34" charset="-122"/>
                <a:cs typeface="Courier New" pitchFamily="34" charset="-120"/>
              </a:rPr>
              <a:t>def classify(text):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hits = {c: count(text, KW[c]) for c in KW}</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best = max(hits, key=hits.get)</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conf = hits[best] / max(1, sum(hits.values()))</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return best, round(conf, 2)</a:t>
            </a:r>
            <a:endParaRPr lang="en-US" sz="1000" dirty="0"/>
          </a:p>
        </p:txBody>
      </p:sp>
      <p:sp>
        <p:nvSpPr>
          <p:cNvPr id="18" name="Shape 15"/>
          <p:cNvSpPr/>
          <p:nvPr/>
        </p:nvSpPr>
        <p:spPr>
          <a:xfrm>
            <a:off x="5669280" y="3337560"/>
            <a:ext cx="3017520" cy="1280160"/>
          </a:xfrm>
          <a:prstGeom prst="roundRect">
            <a:avLst>
              <a:gd name="adj" fmla="val 5000"/>
            </a:avLst>
          </a:prstGeom>
          <a:solidFill>
            <a:schemeClr val="bg2"/>
          </a:solidFill>
          <a:ln w="9525">
            <a:solidFill>
              <a:schemeClr val="accent3"/>
            </a:solidFill>
            <a:prstDash val="solid"/>
          </a:ln>
        </p:spPr>
      </p:sp>
      <p:sp>
        <p:nvSpPr>
          <p:cNvPr id="19" name="Text 16"/>
          <p:cNvSpPr txBox="1"/>
          <p:nvPr/>
        </p:nvSpPr>
        <p:spPr>
          <a:xfrm>
            <a:off x="5760720" y="3401568"/>
            <a:ext cx="2834640" cy="1143000"/>
          </a:xfrm>
          <a:prstGeom prst="rect">
            <a:avLst/>
          </a:prstGeom>
          <a:noFill/>
          <a:ln/>
        </p:spPr>
        <p:txBody>
          <a:bodyPr wrap="square" lIns="508" tIns="508" rIns="508" bIns="508" rtlCol="0" anchor="t"/>
          <a:lstStyle/>
          <a:p>
            <a:pPr indent="0" marL="0">
              <a:spcAft>
                <a:spcPts val="400"/>
              </a:spcAft>
              <a:buNone/>
            </a:pPr>
            <a:r>
              <a:rPr lang="en-US" sz="1100" b="1" dirty="0">
                <a:solidFill>
                  <a:schemeClr val="accent3"/>
                </a:solidFill>
                <a:latin typeface="Calibri" pitchFamily="34" charset="0"/>
                <a:ea typeface="Calibri" pitchFamily="34" charset="-122"/>
                <a:cs typeface="Calibri" pitchFamily="34" charset="-120"/>
              </a:rPr>
              <a:t>IDEMPOTENCY</a:t>
            </a:r>
            <a:endParaRPr lang="en-US" sz="1400" dirty="0"/>
          </a:p>
          <a:p>
            <a:pPr indent="0" marL="0">
              <a:spcAft>
                <a:spcPts val="400"/>
              </a:spcAft>
              <a:buNone/>
            </a:pPr>
            <a:r>
              <a:rPr lang="en-US" sz="1200" dirty="0">
                <a:solidFill>
                  <a:schemeClr val="tx1"/>
                </a:solidFill>
                <a:latin typeface="Calibri" pitchFamily="34" charset="0"/>
                <a:ea typeface="Calibri" pitchFamily="34" charset="-122"/>
                <a:cs typeface="Calibri" pitchFamily="34" charset="-120"/>
              </a:rPr>
              <a:t>UNIQUE (device_id, client_batch_seq) plus the cursor means a retry cannot double-insert.</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REVIEW 2  |  FRONT END</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Front-End Dashboard &amp; Telemetry</a:t>
            </a:r>
            <a:endParaRPr lang="en-US" sz="2800" dirty="0"/>
          </a:p>
        </p:txBody>
      </p:sp>
      <p:sp>
        <p:nvSpPr>
          <p:cNvPr id="5" name="Shape 2"/>
          <p:cNvSpPr/>
          <p:nvPr/>
        </p:nvSpPr>
        <p:spPr>
          <a:xfrm>
            <a:off x="457200" y="1188720"/>
            <a:ext cx="5760720" cy="3429000"/>
          </a:xfrm>
          <a:prstGeom prst="roundRect">
            <a:avLst>
              <a:gd name="adj" fmla="val 2133"/>
            </a:avLst>
          </a:prstGeom>
          <a:solidFill>
            <a:srgbClr val="071429"/>
          </a:solidFill>
          <a:ln w="12700">
            <a:solidFill>
              <a:schemeClr val="accent1"/>
            </a:solidFill>
            <a:prstDash val="solid"/>
          </a:ln>
        </p:spPr>
      </p:sp>
      <p:sp>
        <p:nvSpPr>
          <p:cNvPr id="6" name="Text 3"/>
          <p:cNvSpPr txBox="1"/>
          <p:nvPr/>
        </p:nvSpPr>
        <p:spPr>
          <a:xfrm>
            <a:off x="594360" y="1234440"/>
            <a:ext cx="3200400" cy="228600"/>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EdgeDB  |  Sync Dashboard</a:t>
            </a:r>
            <a:endParaRPr lang="en-US" sz="1000" dirty="0"/>
          </a:p>
        </p:txBody>
      </p:sp>
      <p:sp>
        <p:nvSpPr>
          <p:cNvPr id="7" name="Text 4"/>
          <p:cNvSpPr txBox="1"/>
          <p:nvPr/>
        </p:nvSpPr>
        <p:spPr>
          <a:xfrm>
            <a:off x="4480560" y="1234440"/>
            <a:ext cx="1600200" cy="228600"/>
          </a:xfrm>
          <a:prstGeom prst="rect">
            <a:avLst/>
          </a:prstGeom>
          <a:noFill/>
          <a:ln/>
        </p:spPr>
        <p:txBody>
          <a:bodyPr wrap="square" lIns="0" tIns="0" rIns="0" bIns="0" rtlCol="0" anchor="t"/>
          <a:lstStyle/>
          <a:p>
            <a:pPr algn="r" indent="0" marL="0">
              <a:buNone/>
            </a:pPr>
            <a:r>
              <a:rPr lang="en-US" sz="1000" dirty="0">
                <a:solidFill>
                  <a:schemeClr val="tx2"/>
                </a:solidFill>
                <a:latin typeface="Calibri" pitchFamily="34" charset="0"/>
                <a:ea typeface="Calibri" pitchFamily="34" charset="-122"/>
                <a:cs typeface="Calibri" pitchFamily="34" charset="-120"/>
              </a:rPr>
              <a:t>illustrative layout</a:t>
            </a:r>
            <a:endParaRPr lang="en-US" sz="1000" dirty="0"/>
          </a:p>
        </p:txBody>
      </p:sp>
      <p:sp>
        <p:nvSpPr>
          <p:cNvPr id="8" name="Shape 5"/>
          <p:cNvSpPr/>
          <p:nvPr/>
        </p:nvSpPr>
        <p:spPr>
          <a:xfrm>
            <a:off x="594360" y="1508760"/>
            <a:ext cx="1737360" cy="685800"/>
          </a:xfrm>
          <a:prstGeom prst="roundRect">
            <a:avLst>
              <a:gd name="adj" fmla="val 9333"/>
            </a:avLst>
          </a:prstGeom>
          <a:solidFill>
            <a:schemeClr val="bg2"/>
          </a:solidFill>
          <a:ln w="9525">
            <a:solidFill>
              <a:schemeClr val="accent1"/>
            </a:solidFill>
            <a:prstDash val="solid"/>
          </a:ln>
        </p:spPr>
      </p:sp>
      <p:sp>
        <p:nvSpPr>
          <p:cNvPr id="9" name="Text 6"/>
          <p:cNvSpPr txBox="1"/>
          <p:nvPr/>
        </p:nvSpPr>
        <p:spPr>
          <a:xfrm>
            <a:off x="594360" y="1527048"/>
            <a:ext cx="1737360" cy="649224"/>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4,820</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Total spend (INR)</a:t>
            </a:r>
            <a:endParaRPr lang="en-US" sz="1400" dirty="0"/>
          </a:p>
        </p:txBody>
      </p:sp>
      <p:sp>
        <p:nvSpPr>
          <p:cNvPr id="10" name="Shape 7"/>
          <p:cNvSpPr/>
          <p:nvPr/>
        </p:nvSpPr>
        <p:spPr>
          <a:xfrm>
            <a:off x="2423160" y="1508760"/>
            <a:ext cx="1737360" cy="685800"/>
          </a:xfrm>
          <a:prstGeom prst="roundRect">
            <a:avLst>
              <a:gd name="adj" fmla="val 9333"/>
            </a:avLst>
          </a:prstGeom>
          <a:solidFill>
            <a:schemeClr val="bg2"/>
          </a:solidFill>
          <a:ln w="9525">
            <a:solidFill>
              <a:schemeClr val="accent3"/>
            </a:solidFill>
            <a:prstDash val="solid"/>
          </a:ln>
        </p:spPr>
      </p:sp>
      <p:sp>
        <p:nvSpPr>
          <p:cNvPr id="11" name="Text 8"/>
          <p:cNvSpPr txBox="1"/>
          <p:nvPr/>
        </p:nvSpPr>
        <p:spPr>
          <a:xfrm>
            <a:off x="2423160" y="1527048"/>
            <a:ext cx="1737360" cy="649224"/>
          </a:xfrm>
          <a:prstGeom prst="rect">
            <a:avLst/>
          </a:prstGeom>
          <a:noFill/>
          <a:ln/>
        </p:spPr>
        <p:txBody>
          <a:bodyPr wrap="square" lIns="0" tIns="0" rIns="0" bIns="0" rtlCol="0" anchor="ctr"/>
          <a:lstStyle/>
          <a:p>
            <a:pPr algn="ctr" indent="0" marL="0">
              <a:buNone/>
            </a:pPr>
            <a:r>
              <a:rPr lang="en-US" sz="1800" b="1" dirty="0">
                <a:solidFill>
                  <a:schemeClr val="accent3"/>
                </a:solidFill>
                <a:latin typeface="Calibri" pitchFamily="34" charset="0"/>
                <a:ea typeface="Calibri" pitchFamily="34" charset="-122"/>
                <a:cs typeface="Calibri" pitchFamily="34" charset="-120"/>
              </a:rPr>
              <a:t>11,280</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Steps today</a:t>
            </a:r>
            <a:endParaRPr lang="en-US" sz="1400" dirty="0"/>
          </a:p>
        </p:txBody>
      </p:sp>
      <p:sp>
        <p:nvSpPr>
          <p:cNvPr id="12" name="Shape 9"/>
          <p:cNvSpPr/>
          <p:nvPr/>
        </p:nvSpPr>
        <p:spPr>
          <a:xfrm>
            <a:off x="4251960" y="1508760"/>
            <a:ext cx="1737360" cy="685800"/>
          </a:xfrm>
          <a:prstGeom prst="roundRect">
            <a:avLst>
              <a:gd name="adj" fmla="val 9333"/>
            </a:avLst>
          </a:prstGeom>
          <a:solidFill>
            <a:schemeClr val="bg2"/>
          </a:solidFill>
          <a:ln w="9525">
            <a:solidFill>
              <a:schemeClr val="accent2"/>
            </a:solidFill>
            <a:prstDash val="solid"/>
          </a:ln>
        </p:spPr>
      </p:sp>
      <p:sp>
        <p:nvSpPr>
          <p:cNvPr id="13" name="Text 10"/>
          <p:cNvSpPr txBox="1"/>
          <p:nvPr/>
        </p:nvSpPr>
        <p:spPr>
          <a:xfrm>
            <a:off x="4251960" y="1527048"/>
            <a:ext cx="1737360" cy="649224"/>
          </a:xfrm>
          <a:prstGeom prst="rect">
            <a:avLst/>
          </a:prstGeom>
          <a:noFill/>
          <a:ln/>
        </p:spPr>
        <p:txBody>
          <a:bodyPr wrap="square" lIns="0" tIns="0" rIns="0" bIns="0" rtlCol="0" anchor="ctr"/>
          <a:lstStyle/>
          <a:p>
            <a:pPr algn="ctr" indent="0" marL="0">
              <a:buNone/>
            </a:pPr>
            <a:r>
              <a:rPr lang="en-US" sz="1800" b="1" dirty="0">
                <a:solidFill>
                  <a:schemeClr val="accent2"/>
                </a:solidFill>
                <a:latin typeface="Calibri" pitchFamily="34" charset="0"/>
                <a:ea typeface="Calibri" pitchFamily="34" charset="-122"/>
                <a:cs typeface="Calibri" pitchFamily="34" charset="-120"/>
              </a:rPr>
              <a:t>1</a:t>
            </a:r>
            <a:endParaRPr lang="en-US" sz="1400" dirty="0"/>
          </a:p>
          <a:p>
            <a:pPr algn="ctr" indent="0" marL="0">
              <a:buNone/>
            </a:pPr>
            <a:r>
              <a:rPr lang="en-US" sz="1000" dirty="0">
                <a:solidFill>
                  <a:schemeClr val="tx2"/>
                </a:solidFill>
                <a:latin typeface="Calibri" pitchFamily="34" charset="0"/>
                <a:ea typeface="Calibri" pitchFamily="34" charset="-122"/>
                <a:cs typeface="Calibri" pitchFamily="34" charset="-120"/>
              </a:rPr>
              <a:t>Conflicts logged</a:t>
            </a:r>
            <a:endParaRPr lang="en-US" sz="1400" dirty="0"/>
          </a:p>
        </p:txBody>
      </p:sp>
      <p:sp>
        <p:nvSpPr>
          <p:cNvPr id="14" name="Shape 11"/>
          <p:cNvSpPr/>
          <p:nvPr/>
        </p:nvSpPr>
        <p:spPr>
          <a:xfrm>
            <a:off x="594360" y="2304288"/>
            <a:ext cx="2743200" cy="1234440"/>
          </a:xfrm>
          <a:prstGeom prst="roundRect">
            <a:avLst>
              <a:gd name="adj" fmla="val 5185"/>
            </a:avLst>
          </a:prstGeom>
          <a:solidFill>
            <a:schemeClr val="bg2"/>
          </a:solidFill>
          <a:ln w="9525">
            <a:solidFill>
              <a:schemeClr val="accent6"/>
            </a:solidFill>
            <a:prstDash val="solid"/>
          </a:ln>
        </p:spPr>
      </p:sp>
      <p:sp>
        <p:nvSpPr>
          <p:cNvPr id="15" name="Text 12"/>
          <p:cNvSpPr txBox="1"/>
          <p:nvPr/>
        </p:nvSpPr>
        <p:spPr>
          <a:xfrm>
            <a:off x="685800" y="2331720"/>
            <a:ext cx="2560320" cy="228600"/>
          </a:xfrm>
          <a:prstGeom prst="rect">
            <a:avLst/>
          </a:prstGeom>
          <a:noFill/>
          <a:ln/>
        </p:spPr>
        <p:txBody>
          <a:bodyPr wrap="square" lIns="0" tIns="0" rIns="0" bIns="0" rtlCol="0" anchor="t"/>
          <a:lstStyle/>
          <a:p>
            <a:pPr indent="0" marL="0">
              <a:buNone/>
            </a:pPr>
            <a:r>
              <a:rPr lang="en-US" sz="1000" b="1" dirty="0">
                <a:solidFill>
                  <a:schemeClr val="tx2"/>
                </a:solidFill>
                <a:latin typeface="Calibri" pitchFamily="34" charset="0"/>
                <a:ea typeface="Calibri" pitchFamily="34" charset="-122"/>
                <a:cs typeface="Calibri" pitchFamily="34" charset="-120"/>
              </a:rPr>
              <a:t>Spend by category</a:t>
            </a:r>
            <a:endParaRPr lang="en-US" sz="1000" dirty="0"/>
          </a:p>
        </p:txBody>
      </p:sp>
      <p:sp>
        <p:nvSpPr>
          <p:cNvPr id="16" name="Text 13"/>
          <p:cNvSpPr txBox="1"/>
          <p:nvPr/>
        </p:nvSpPr>
        <p:spPr>
          <a:xfrm>
            <a:off x="685800" y="2606040"/>
            <a:ext cx="731520" cy="237744"/>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Food</a:t>
            </a:r>
            <a:endParaRPr lang="en-US" sz="1000" dirty="0"/>
          </a:p>
        </p:txBody>
      </p:sp>
      <p:sp>
        <p:nvSpPr>
          <p:cNvPr id="17" name="Shape 14"/>
          <p:cNvSpPr/>
          <p:nvPr/>
        </p:nvSpPr>
        <p:spPr>
          <a:xfrm>
            <a:off x="1417320" y="2642616"/>
            <a:ext cx="1097280" cy="164592"/>
          </a:xfrm>
          <a:prstGeom prst="rect">
            <a:avLst/>
          </a:prstGeom>
          <a:solidFill>
            <a:schemeClr val="accent1"/>
          </a:solidFill>
          <a:ln w="12700">
            <a:solidFill>
              <a:schemeClr val="accent1"/>
            </a:solidFill>
            <a:prstDash val="solid"/>
          </a:ln>
        </p:spPr>
      </p:sp>
      <p:sp>
        <p:nvSpPr>
          <p:cNvPr id="18" name="Text 15"/>
          <p:cNvSpPr txBox="1"/>
          <p:nvPr/>
        </p:nvSpPr>
        <p:spPr>
          <a:xfrm>
            <a:off x="2606040" y="2606040"/>
            <a:ext cx="640080" cy="237744"/>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1640</a:t>
            </a:r>
            <a:endParaRPr lang="en-US" sz="1000" dirty="0"/>
          </a:p>
        </p:txBody>
      </p:sp>
      <p:sp>
        <p:nvSpPr>
          <p:cNvPr id="19" name="Text 16"/>
          <p:cNvSpPr txBox="1"/>
          <p:nvPr/>
        </p:nvSpPr>
        <p:spPr>
          <a:xfrm>
            <a:off x="685800" y="2907792"/>
            <a:ext cx="731520" cy="237744"/>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Shopping</a:t>
            </a:r>
            <a:endParaRPr lang="en-US" sz="1000" dirty="0"/>
          </a:p>
        </p:txBody>
      </p:sp>
      <p:sp>
        <p:nvSpPr>
          <p:cNvPr id="20" name="Shape 17"/>
          <p:cNvSpPr/>
          <p:nvPr/>
        </p:nvSpPr>
        <p:spPr>
          <a:xfrm>
            <a:off x="1417320" y="2944368"/>
            <a:ext cx="903249" cy="164592"/>
          </a:xfrm>
          <a:prstGeom prst="rect">
            <a:avLst/>
          </a:prstGeom>
          <a:solidFill>
            <a:schemeClr val="accent1"/>
          </a:solidFill>
          <a:ln w="12700">
            <a:solidFill>
              <a:schemeClr val="accent1"/>
            </a:solidFill>
            <a:prstDash val="solid"/>
          </a:ln>
        </p:spPr>
      </p:sp>
      <p:sp>
        <p:nvSpPr>
          <p:cNvPr id="21" name="Text 18"/>
          <p:cNvSpPr txBox="1"/>
          <p:nvPr/>
        </p:nvSpPr>
        <p:spPr>
          <a:xfrm>
            <a:off x="2606040" y="2907792"/>
            <a:ext cx="640080" cy="237744"/>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1350</a:t>
            </a:r>
            <a:endParaRPr lang="en-US" sz="1000" dirty="0"/>
          </a:p>
        </p:txBody>
      </p:sp>
      <p:sp>
        <p:nvSpPr>
          <p:cNvPr id="22" name="Text 19"/>
          <p:cNvSpPr txBox="1"/>
          <p:nvPr/>
        </p:nvSpPr>
        <p:spPr>
          <a:xfrm>
            <a:off x="685800" y="3209544"/>
            <a:ext cx="731520" cy="237744"/>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Transport</a:t>
            </a:r>
            <a:endParaRPr lang="en-US" sz="1000" dirty="0"/>
          </a:p>
        </p:txBody>
      </p:sp>
      <p:sp>
        <p:nvSpPr>
          <p:cNvPr id="23" name="Shape 20"/>
          <p:cNvSpPr/>
          <p:nvPr/>
        </p:nvSpPr>
        <p:spPr>
          <a:xfrm>
            <a:off x="1417320" y="3246120"/>
            <a:ext cx="615547" cy="164592"/>
          </a:xfrm>
          <a:prstGeom prst="rect">
            <a:avLst/>
          </a:prstGeom>
          <a:solidFill>
            <a:schemeClr val="accent1"/>
          </a:solidFill>
          <a:ln w="12700">
            <a:solidFill>
              <a:schemeClr val="accent1"/>
            </a:solidFill>
            <a:prstDash val="solid"/>
          </a:ln>
        </p:spPr>
      </p:sp>
      <p:sp>
        <p:nvSpPr>
          <p:cNvPr id="24" name="Text 21"/>
          <p:cNvSpPr txBox="1"/>
          <p:nvPr/>
        </p:nvSpPr>
        <p:spPr>
          <a:xfrm>
            <a:off x="2606040" y="3209544"/>
            <a:ext cx="640080" cy="237744"/>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920</a:t>
            </a:r>
            <a:endParaRPr lang="en-US" sz="1000" dirty="0"/>
          </a:p>
        </p:txBody>
      </p:sp>
      <p:sp>
        <p:nvSpPr>
          <p:cNvPr id="25" name="Shape 22"/>
          <p:cNvSpPr/>
          <p:nvPr/>
        </p:nvSpPr>
        <p:spPr>
          <a:xfrm>
            <a:off x="3474720" y="2304288"/>
            <a:ext cx="2606040" cy="1234440"/>
          </a:xfrm>
          <a:prstGeom prst="roundRect">
            <a:avLst>
              <a:gd name="adj" fmla="val 5185"/>
            </a:avLst>
          </a:prstGeom>
          <a:solidFill>
            <a:schemeClr val="bg2"/>
          </a:solidFill>
          <a:ln w="9525">
            <a:solidFill>
              <a:schemeClr val="accent6"/>
            </a:solidFill>
            <a:prstDash val="solid"/>
          </a:ln>
        </p:spPr>
      </p:sp>
      <p:sp>
        <p:nvSpPr>
          <p:cNvPr id="26" name="Text 23"/>
          <p:cNvSpPr txBox="1"/>
          <p:nvPr/>
        </p:nvSpPr>
        <p:spPr>
          <a:xfrm>
            <a:off x="3566160" y="2331720"/>
            <a:ext cx="2377440" cy="228600"/>
          </a:xfrm>
          <a:prstGeom prst="rect">
            <a:avLst/>
          </a:prstGeom>
          <a:noFill/>
          <a:ln/>
        </p:spPr>
        <p:txBody>
          <a:bodyPr wrap="square" lIns="0" tIns="0" rIns="0" bIns="0" rtlCol="0" anchor="t"/>
          <a:lstStyle/>
          <a:p>
            <a:pPr indent="0" marL="0">
              <a:buNone/>
            </a:pPr>
            <a:r>
              <a:rPr lang="en-US" sz="1000" b="1" dirty="0">
                <a:solidFill>
                  <a:schemeClr val="tx2"/>
                </a:solidFill>
                <a:latin typeface="Calibri" pitchFamily="34" charset="0"/>
                <a:ea typeface="Calibri" pitchFamily="34" charset="-122"/>
                <a:cs typeface="Calibri" pitchFamily="34" charset="-120"/>
              </a:rPr>
              <a:t>Activity feed</a:t>
            </a:r>
            <a:endParaRPr lang="en-US" sz="1000" dirty="0"/>
          </a:p>
        </p:txBody>
      </p:sp>
      <p:sp>
        <p:nvSpPr>
          <p:cNvPr id="27" name="Shape 24"/>
          <p:cNvSpPr/>
          <p:nvPr/>
        </p:nvSpPr>
        <p:spPr>
          <a:xfrm>
            <a:off x="3566160" y="2670048"/>
            <a:ext cx="118872" cy="118872"/>
          </a:xfrm>
          <a:prstGeom prst="ellipse">
            <a:avLst/>
          </a:prstGeom>
          <a:solidFill>
            <a:schemeClr val="accent1"/>
          </a:solidFill>
          <a:ln w="12700">
            <a:solidFill>
              <a:schemeClr val="accent1"/>
            </a:solidFill>
            <a:prstDash val="solid"/>
          </a:ln>
        </p:spPr>
      </p:sp>
      <p:sp>
        <p:nvSpPr>
          <p:cNvPr id="28" name="Text 25"/>
          <p:cNvSpPr txBox="1"/>
          <p:nvPr/>
        </p:nvSpPr>
        <p:spPr>
          <a:xfrm>
            <a:off x="3767328" y="2606040"/>
            <a:ext cx="2240280" cy="237744"/>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Phone: 8,450 steps</a:t>
            </a:r>
            <a:endParaRPr lang="en-US" sz="1000" dirty="0"/>
          </a:p>
        </p:txBody>
      </p:sp>
      <p:sp>
        <p:nvSpPr>
          <p:cNvPr id="29" name="Shape 26"/>
          <p:cNvSpPr/>
          <p:nvPr/>
        </p:nvSpPr>
        <p:spPr>
          <a:xfrm>
            <a:off x="3566160" y="2971800"/>
            <a:ext cx="118872" cy="118872"/>
          </a:xfrm>
          <a:prstGeom prst="ellipse">
            <a:avLst/>
          </a:prstGeom>
          <a:solidFill>
            <a:schemeClr val="accent3"/>
          </a:solidFill>
          <a:ln w="12700">
            <a:solidFill>
              <a:schemeClr val="accent3"/>
            </a:solidFill>
            <a:prstDash val="solid"/>
          </a:ln>
        </p:spPr>
      </p:sp>
      <p:sp>
        <p:nvSpPr>
          <p:cNvPr id="30" name="Text 27"/>
          <p:cNvSpPr txBox="1"/>
          <p:nvPr/>
        </p:nvSpPr>
        <p:spPr>
          <a:xfrm>
            <a:off x="3767328" y="2907792"/>
            <a:ext cx="2240280" cy="237744"/>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Watch: 11,280 steps</a:t>
            </a:r>
            <a:endParaRPr lang="en-US" sz="1000" dirty="0"/>
          </a:p>
        </p:txBody>
      </p:sp>
      <p:sp>
        <p:nvSpPr>
          <p:cNvPr id="31" name="Shape 28"/>
          <p:cNvSpPr/>
          <p:nvPr/>
        </p:nvSpPr>
        <p:spPr>
          <a:xfrm>
            <a:off x="3566160" y="3273552"/>
            <a:ext cx="118872" cy="118872"/>
          </a:xfrm>
          <a:prstGeom prst="ellipse">
            <a:avLst/>
          </a:prstGeom>
          <a:solidFill>
            <a:schemeClr val="accent2"/>
          </a:solidFill>
          <a:ln w="12700">
            <a:solidFill>
              <a:schemeClr val="accent2"/>
            </a:solidFill>
            <a:prstDash val="solid"/>
          </a:ln>
        </p:spPr>
      </p:sp>
      <p:sp>
        <p:nvSpPr>
          <p:cNvPr id="32" name="Text 29"/>
          <p:cNvSpPr txBox="1"/>
          <p:nvPr/>
        </p:nvSpPr>
        <p:spPr>
          <a:xfrm>
            <a:off x="3767328" y="3209544"/>
            <a:ext cx="2240280" cy="237744"/>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Resolved: watch wins</a:t>
            </a:r>
            <a:endParaRPr lang="en-US" sz="1000" dirty="0"/>
          </a:p>
        </p:txBody>
      </p:sp>
      <p:sp>
        <p:nvSpPr>
          <p:cNvPr id="33" name="Shape 30"/>
          <p:cNvSpPr/>
          <p:nvPr/>
        </p:nvSpPr>
        <p:spPr>
          <a:xfrm>
            <a:off x="594360" y="3675888"/>
            <a:ext cx="2743200" cy="365760"/>
          </a:xfrm>
          <a:prstGeom prst="roundRect">
            <a:avLst>
              <a:gd name="adj" fmla="val 15000"/>
            </a:avLst>
          </a:prstGeom>
          <a:solidFill>
            <a:schemeClr val="accent6"/>
          </a:solidFill>
          <a:ln w="9525">
            <a:solidFill>
              <a:schemeClr val="accent1"/>
            </a:solidFill>
            <a:prstDash val="solid"/>
          </a:ln>
        </p:spPr>
      </p:sp>
      <p:sp>
        <p:nvSpPr>
          <p:cNvPr id="34" name="Text 31"/>
          <p:cNvSpPr txBox="1"/>
          <p:nvPr/>
        </p:nvSpPr>
        <p:spPr>
          <a:xfrm>
            <a:off x="594360" y="3675888"/>
            <a:ext cx="2743200" cy="365760"/>
          </a:xfrm>
          <a:prstGeom prst="rect">
            <a:avLst/>
          </a:prstGeom>
          <a:noFill/>
          <a:ln/>
        </p:spPr>
        <p:txBody>
          <a:bodyPr wrap="square" lIns="254" tIns="254" rIns="254" bIns="254"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Save to Offline SQLite</a:t>
            </a:r>
            <a:endParaRPr lang="en-US" sz="1000" dirty="0"/>
          </a:p>
        </p:txBody>
      </p:sp>
      <p:sp>
        <p:nvSpPr>
          <p:cNvPr id="35" name="Shape 32"/>
          <p:cNvSpPr/>
          <p:nvPr/>
        </p:nvSpPr>
        <p:spPr>
          <a:xfrm>
            <a:off x="3429000" y="3675888"/>
            <a:ext cx="2743200" cy="365760"/>
          </a:xfrm>
          <a:prstGeom prst="roundRect">
            <a:avLst>
              <a:gd name="adj" fmla="val 15000"/>
            </a:avLst>
          </a:prstGeom>
          <a:solidFill>
            <a:schemeClr val="accent6"/>
          </a:solidFill>
          <a:ln w="9525">
            <a:solidFill>
              <a:schemeClr val="accent1"/>
            </a:solidFill>
            <a:prstDash val="solid"/>
          </a:ln>
        </p:spPr>
      </p:sp>
      <p:sp>
        <p:nvSpPr>
          <p:cNvPr id="36" name="Text 33"/>
          <p:cNvSpPr txBox="1"/>
          <p:nvPr/>
        </p:nvSpPr>
        <p:spPr>
          <a:xfrm>
            <a:off x="3429000" y="3675888"/>
            <a:ext cx="2743200" cy="365760"/>
          </a:xfrm>
          <a:prstGeom prst="rect">
            <a:avLst/>
          </a:prstGeom>
          <a:noFill/>
          <a:ln/>
        </p:spPr>
        <p:txBody>
          <a:bodyPr wrap="square" lIns="254" tIns="254" rIns="254" bIns="254"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Sync Phone Batch</a:t>
            </a:r>
            <a:endParaRPr lang="en-US" sz="1000" dirty="0"/>
          </a:p>
        </p:txBody>
      </p:sp>
      <p:sp>
        <p:nvSpPr>
          <p:cNvPr id="37" name="Shape 34"/>
          <p:cNvSpPr/>
          <p:nvPr/>
        </p:nvSpPr>
        <p:spPr>
          <a:xfrm>
            <a:off x="594360" y="4114800"/>
            <a:ext cx="2743200" cy="365760"/>
          </a:xfrm>
          <a:prstGeom prst="roundRect">
            <a:avLst>
              <a:gd name="adj" fmla="val 15000"/>
            </a:avLst>
          </a:prstGeom>
          <a:solidFill>
            <a:schemeClr val="accent2"/>
          </a:solidFill>
          <a:ln w="9525">
            <a:solidFill>
              <a:schemeClr val="accent2"/>
            </a:solidFill>
            <a:prstDash val="solid"/>
          </a:ln>
        </p:spPr>
      </p:sp>
      <p:sp>
        <p:nvSpPr>
          <p:cNvPr id="38" name="Text 35"/>
          <p:cNvSpPr txBox="1"/>
          <p:nvPr/>
        </p:nvSpPr>
        <p:spPr>
          <a:xfrm>
            <a:off x="594360" y="4114800"/>
            <a:ext cx="2743200" cy="365760"/>
          </a:xfrm>
          <a:prstGeom prst="rect">
            <a:avLst/>
          </a:prstGeom>
          <a:noFill/>
          <a:ln/>
        </p:spPr>
        <p:txBody>
          <a:bodyPr wrap="square" lIns="254" tIns="254" rIns="254" bIns="254" rtlCol="0" anchor="ctr"/>
          <a:lstStyle/>
          <a:p>
            <a:pPr algn="ctr" indent="0" marL="0">
              <a:buNone/>
            </a:pPr>
            <a:r>
              <a:rPr lang="en-US" sz="1000" b="1" dirty="0">
                <a:solidFill>
                  <a:srgbClr val="0B1E3F"/>
                </a:solidFill>
                <a:latin typeface="Calibri" pitchFamily="34" charset="0"/>
                <a:ea typeface="Calibri" pitchFamily="34" charset="-122"/>
                <a:cs typeface="Calibri" pitchFamily="34" charset="-120"/>
              </a:rPr>
              <a:t>Simulate Watch vs. Phone Step Conflict</a:t>
            </a:r>
            <a:endParaRPr lang="en-US" sz="1000" dirty="0"/>
          </a:p>
        </p:txBody>
      </p:sp>
      <p:sp>
        <p:nvSpPr>
          <p:cNvPr id="39" name="Shape 36"/>
          <p:cNvSpPr/>
          <p:nvPr/>
        </p:nvSpPr>
        <p:spPr>
          <a:xfrm>
            <a:off x="3429000" y="4114800"/>
            <a:ext cx="2743200" cy="365760"/>
          </a:xfrm>
          <a:prstGeom prst="roundRect">
            <a:avLst>
              <a:gd name="adj" fmla="val 15000"/>
            </a:avLst>
          </a:prstGeom>
          <a:solidFill>
            <a:schemeClr val="accent6"/>
          </a:solidFill>
          <a:ln w="9525">
            <a:solidFill>
              <a:schemeClr val="accent1"/>
            </a:solidFill>
            <a:prstDash val="solid"/>
          </a:ln>
        </p:spPr>
      </p:sp>
      <p:sp>
        <p:nvSpPr>
          <p:cNvPr id="40" name="Text 37"/>
          <p:cNvSpPr txBox="1"/>
          <p:nvPr/>
        </p:nvSpPr>
        <p:spPr>
          <a:xfrm>
            <a:off x="3429000" y="4114800"/>
            <a:ext cx="2743200" cy="365760"/>
          </a:xfrm>
          <a:prstGeom prst="rect">
            <a:avLst/>
          </a:prstGeom>
          <a:noFill/>
          <a:ln/>
        </p:spPr>
        <p:txBody>
          <a:bodyPr wrap="square" lIns="254" tIns="254" rIns="254" bIns="254"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Simulate Expense Collision</a:t>
            </a:r>
            <a:endParaRPr lang="en-US" sz="1000" dirty="0"/>
          </a:p>
        </p:txBody>
      </p:sp>
      <p:sp>
        <p:nvSpPr>
          <p:cNvPr id="41" name="Text 38"/>
          <p:cNvSpPr txBox="1"/>
          <p:nvPr/>
        </p:nvSpPr>
        <p:spPr>
          <a:xfrm>
            <a:off x="6400800" y="1188720"/>
            <a:ext cx="2286000" cy="3429000"/>
          </a:xfrm>
          <a:prstGeom prst="rect">
            <a:avLst/>
          </a:prstGeom>
          <a:noFill/>
          <a:ln/>
        </p:spPr>
        <p:txBody>
          <a:bodyPr wrap="square" lIns="508" tIns="508" rIns="508" bIns="508" rtlCol="0" anchor="t"/>
          <a:lstStyle/>
          <a:p>
            <a:pPr marL="177800" indent="-177800">
              <a:spcAft>
                <a:spcPts val="600"/>
              </a:spcAft>
              <a:buSzPct val="100000"/>
              <a:buChar char="•"/>
            </a:pPr>
            <a:r>
              <a:rPr lang="en-US" sz="1200" b="1" dirty="0">
                <a:solidFill>
                  <a:schemeClr val="accent1"/>
                </a:solidFill>
                <a:latin typeface="Calibri" pitchFamily="34" charset="0"/>
                <a:ea typeface="Calibri" pitchFamily="34" charset="-122"/>
                <a:cs typeface="Calibri" pitchFamily="34" charset="-120"/>
              </a:rPr>
              <a:t>KPI cards: </a:t>
            </a:r>
            <a:pPr indent="0" marL="0">
              <a:buNone/>
            </a:pPr>
            <a:r>
              <a:rPr lang="en-US" sz="1200" dirty="0">
                <a:solidFill>
                  <a:schemeClr val="tx1"/>
                </a:solidFill>
                <a:latin typeface="Calibri" pitchFamily="34" charset="0"/>
                <a:ea typeface="Calibri" pitchFamily="34" charset="-122"/>
                <a:cs typeface="Calibri" pitchFamily="34" charset="-120"/>
              </a:rPr>
              <a:t>spend, steps, conflicts</a:t>
            </a:r>
            <a:endParaRPr lang="en-US" sz="1200" dirty="0"/>
          </a:p>
          <a:p>
            <a:pPr marL="177800" indent="-177800">
              <a:spcAft>
                <a:spcPts val="600"/>
              </a:spcAft>
              <a:buSzPct val="100000"/>
              <a:buChar char="•"/>
            </a:pPr>
            <a:r>
              <a:rPr lang="en-US" sz="1200" b="1" dirty="0">
                <a:solidFill>
                  <a:schemeClr val="accent1"/>
                </a:solidFill>
                <a:latin typeface="Calibri" pitchFamily="34" charset="0"/>
                <a:ea typeface="Calibri" pitchFamily="34" charset="-122"/>
                <a:cs typeface="Calibri" pitchFamily="34" charset="-120"/>
              </a:rPr>
              <a:t>Tables: </a:t>
            </a:r>
            <a:pPr indent="0" marL="0">
              <a:buNone/>
            </a:pPr>
            <a:r>
              <a:rPr lang="en-US" sz="1200" dirty="0">
                <a:solidFill>
                  <a:schemeClr val="tx1"/>
                </a:solidFill>
                <a:latin typeface="Calibri" pitchFamily="34" charset="0"/>
                <a:ea typeface="Calibri" pitchFamily="34" charset="-122"/>
                <a:cs typeface="Calibri" pitchFamily="34" charset="-120"/>
              </a:rPr>
              <a:t>views for categories and conflicts</a:t>
            </a:r>
            <a:endParaRPr lang="en-US" sz="1200" dirty="0"/>
          </a:p>
          <a:p>
            <a:pPr marL="177800" indent="-177800">
              <a:spcAft>
                <a:spcPts val="600"/>
              </a:spcAft>
              <a:buSzPct val="100000"/>
              <a:buChar char="•"/>
            </a:pPr>
            <a:r>
              <a:rPr lang="en-US" sz="1200" b="1" dirty="0">
                <a:solidFill>
                  <a:schemeClr val="accent1"/>
                </a:solidFill>
                <a:latin typeface="Calibri" pitchFamily="34" charset="0"/>
                <a:ea typeface="Calibri" pitchFamily="34" charset="-122"/>
                <a:cs typeface="Calibri" pitchFamily="34" charset="-120"/>
              </a:rPr>
              <a:t>Live status: </a:t>
            </a:r>
            <a:pPr indent="0" marL="0">
              <a:buNone/>
            </a:pPr>
            <a:r>
              <a:rPr lang="en-US" sz="1200" dirty="0">
                <a:solidFill>
                  <a:schemeClr val="tx1"/>
                </a:solidFill>
                <a:latin typeface="Calibri" pitchFamily="34" charset="0"/>
                <a:ea typeface="Calibri" pitchFamily="34" charset="-122"/>
                <a:cs typeface="Calibri" pitchFamily="34" charset="-120"/>
              </a:rPr>
              <a:t>activity feed from Flask REST API</a:t>
            </a:r>
            <a:endParaRPr lang="en-US" sz="1200" dirty="0"/>
          </a:p>
          <a:p>
            <a:pPr marL="177800" indent="-177800">
              <a:spcAft>
                <a:spcPts val="600"/>
              </a:spcAft>
              <a:buSzPct val="100000"/>
              <a:buChar char="•"/>
            </a:pPr>
            <a:r>
              <a:rPr lang="en-US" sz="1200" b="1" dirty="0">
                <a:solidFill>
                  <a:schemeClr val="accent1"/>
                </a:solidFill>
                <a:latin typeface="Calibri" pitchFamily="34" charset="0"/>
                <a:ea typeface="Calibri" pitchFamily="34" charset="-122"/>
                <a:cs typeface="Calibri" pitchFamily="34" charset="-120"/>
              </a:rPr>
              <a:t>Demo buttons: </a:t>
            </a:r>
            <a:pPr indent="0" marL="0">
              <a:buNone/>
            </a:pPr>
            <a:r>
              <a:rPr lang="en-US" sz="1200" dirty="0">
                <a:solidFill>
                  <a:schemeClr val="tx1"/>
                </a:solidFill>
                <a:latin typeface="Calibri" pitchFamily="34" charset="0"/>
                <a:ea typeface="Calibri" pitchFamily="34" charset="-122"/>
                <a:cs typeface="Calibri" pitchFamily="34" charset="-120"/>
              </a:rPr>
              <a:t>drive the offline-to-sync flow</a:t>
            </a:r>
            <a:endParaRPr lang="en-US" sz="1200" dirty="0"/>
          </a:p>
          <a:p>
            <a:pPr marL="177800" indent="-177800">
              <a:spcAft>
                <a:spcPts val="600"/>
              </a:spcAft>
              <a:buSzPct val="100000"/>
              <a:buChar char="•"/>
            </a:pPr>
            <a:r>
              <a:rPr lang="en-US" sz="1200" b="1" dirty="0">
                <a:solidFill>
                  <a:schemeClr val="accent1"/>
                </a:solidFill>
                <a:latin typeface="Calibri" pitchFamily="34" charset="0"/>
                <a:ea typeface="Calibri" pitchFamily="34" charset="-122"/>
                <a:cs typeface="Calibri" pitchFamily="34" charset="-120"/>
              </a:rPr>
              <a:t>Stack: </a:t>
            </a:r>
            <a:pPr indent="0" marL="0">
              <a:buNone/>
            </a:pPr>
            <a:r>
              <a:rPr lang="en-US" sz="1200" dirty="0">
                <a:solidFill>
                  <a:schemeClr val="tx1"/>
                </a:solidFill>
                <a:latin typeface="Calibri" pitchFamily="34" charset="0"/>
                <a:ea typeface="Calibri" pitchFamily="34" charset="-122"/>
                <a:cs typeface="Calibri" pitchFamily="34" charset="-120"/>
              </a:rPr>
              <a:t>HTML5, CSS3, vanilla JS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LIVE DEMO</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Demo: Watch vs. Phone Conflict</a:t>
            </a:r>
            <a:endParaRPr lang="en-US" sz="2800" dirty="0"/>
          </a:p>
        </p:txBody>
      </p:sp>
      <p:sp>
        <p:nvSpPr>
          <p:cNvPr id="5" name="Shape 2"/>
          <p:cNvSpPr/>
          <p:nvPr/>
        </p:nvSpPr>
        <p:spPr>
          <a:xfrm>
            <a:off x="457200" y="1188720"/>
            <a:ext cx="4846320" cy="621792"/>
          </a:xfrm>
          <a:prstGeom prst="roundRect">
            <a:avLst>
              <a:gd name="adj" fmla="val 10294"/>
            </a:avLst>
          </a:prstGeom>
          <a:solidFill>
            <a:schemeClr val="bg2"/>
          </a:solidFill>
          <a:ln w="9525">
            <a:solidFill>
              <a:schemeClr val="accent1"/>
            </a:solidFill>
            <a:prstDash val="solid"/>
          </a:ln>
        </p:spPr>
      </p:sp>
      <p:sp>
        <p:nvSpPr>
          <p:cNvPr id="6" name="Shape 3"/>
          <p:cNvSpPr/>
          <p:nvPr/>
        </p:nvSpPr>
        <p:spPr>
          <a:xfrm>
            <a:off x="566928" y="1316736"/>
            <a:ext cx="365760" cy="365760"/>
          </a:xfrm>
          <a:prstGeom prst="ellipse">
            <a:avLst/>
          </a:prstGeom>
          <a:solidFill>
            <a:schemeClr val="accent1"/>
          </a:solidFill>
          <a:ln w="12700">
            <a:solidFill>
              <a:schemeClr val="accent1"/>
            </a:solidFill>
            <a:prstDash val="solid"/>
          </a:ln>
        </p:spPr>
      </p:sp>
      <p:sp>
        <p:nvSpPr>
          <p:cNvPr id="7" name="Text 4"/>
          <p:cNvSpPr txBox="1"/>
          <p:nvPr/>
        </p:nvSpPr>
        <p:spPr>
          <a:xfrm>
            <a:off x="566928" y="1316736"/>
            <a:ext cx="365760" cy="36576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051560" y="1207008"/>
            <a:ext cx="4160520" cy="585216"/>
          </a:xfrm>
          <a:prstGeom prst="rect">
            <a:avLst/>
          </a:prstGeom>
          <a:noFill/>
          <a:ln/>
        </p:spPr>
        <p:txBody>
          <a:bodyPr wrap="square" lIns="508" tIns="508" rIns="508" bIns="508"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Offline: </a:t>
            </a:r>
            <a:pPr indent="0" marL="0">
              <a:buNone/>
            </a:pPr>
            <a:r>
              <a:rPr lang="en-US" sz="1200" dirty="0">
                <a:solidFill>
                  <a:schemeClr val="tx1"/>
                </a:solidFill>
                <a:latin typeface="Calibri" pitchFamily="34" charset="0"/>
                <a:ea typeface="Calibri" pitchFamily="34" charset="-122"/>
                <a:cs typeface="Calibri" pitchFamily="34" charset="-120"/>
              </a:rPr>
              <a:t>phone logs 8,450 steps, watch logs 11,280, same date.</a:t>
            </a:r>
            <a:endParaRPr lang="en-US" sz="1200" dirty="0"/>
          </a:p>
        </p:txBody>
      </p:sp>
      <p:sp>
        <p:nvSpPr>
          <p:cNvPr id="9" name="Shape 6"/>
          <p:cNvSpPr/>
          <p:nvPr/>
        </p:nvSpPr>
        <p:spPr>
          <a:xfrm>
            <a:off x="457200" y="1874520"/>
            <a:ext cx="4846320" cy="621792"/>
          </a:xfrm>
          <a:prstGeom prst="roundRect">
            <a:avLst>
              <a:gd name="adj" fmla="val 10294"/>
            </a:avLst>
          </a:prstGeom>
          <a:solidFill>
            <a:schemeClr val="bg2"/>
          </a:solidFill>
          <a:ln w="9525">
            <a:solidFill>
              <a:schemeClr val="accent1"/>
            </a:solidFill>
            <a:prstDash val="solid"/>
          </a:ln>
        </p:spPr>
      </p:sp>
      <p:sp>
        <p:nvSpPr>
          <p:cNvPr id="10" name="Shape 7"/>
          <p:cNvSpPr/>
          <p:nvPr/>
        </p:nvSpPr>
        <p:spPr>
          <a:xfrm>
            <a:off x="566928" y="200253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66928" y="2002536"/>
            <a:ext cx="365760" cy="36576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051560" y="1892808"/>
            <a:ext cx="4160520" cy="585216"/>
          </a:xfrm>
          <a:prstGeom prst="rect">
            <a:avLst/>
          </a:prstGeom>
          <a:noFill/>
          <a:ln/>
        </p:spPr>
        <p:txBody>
          <a:bodyPr wrap="square" lIns="508" tIns="508" rIns="508" bIns="508"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Phone syncs: </a:t>
            </a:r>
            <a:pPr indent="0" marL="0">
              <a:buNone/>
            </a:pPr>
            <a:r>
              <a:rPr lang="en-US" sz="1200" dirty="0">
                <a:solidFill>
                  <a:schemeClr val="tx1"/>
                </a:solidFill>
                <a:latin typeface="Calibri" pitchFamily="34" charset="0"/>
                <a:ea typeface="Calibri" pitchFamily="34" charset="-122"/>
                <a:cs typeface="Calibri" pitchFamily="34" charset="-120"/>
              </a:rPr>
              <a:t>batch committed, 8,450 stored for the date.</a:t>
            </a:r>
            <a:endParaRPr lang="en-US" sz="1200" dirty="0"/>
          </a:p>
        </p:txBody>
      </p:sp>
      <p:sp>
        <p:nvSpPr>
          <p:cNvPr id="13" name="Shape 10"/>
          <p:cNvSpPr/>
          <p:nvPr/>
        </p:nvSpPr>
        <p:spPr>
          <a:xfrm>
            <a:off x="457200" y="2560320"/>
            <a:ext cx="4846320" cy="621792"/>
          </a:xfrm>
          <a:prstGeom prst="roundRect">
            <a:avLst>
              <a:gd name="adj" fmla="val 10294"/>
            </a:avLst>
          </a:prstGeom>
          <a:solidFill>
            <a:schemeClr val="bg2"/>
          </a:solidFill>
          <a:ln w="9525">
            <a:solidFill>
              <a:schemeClr val="accent2"/>
            </a:solidFill>
            <a:prstDash val="solid"/>
          </a:ln>
        </p:spPr>
      </p:sp>
      <p:sp>
        <p:nvSpPr>
          <p:cNvPr id="14" name="Shape 11"/>
          <p:cNvSpPr/>
          <p:nvPr/>
        </p:nvSpPr>
        <p:spPr>
          <a:xfrm>
            <a:off x="566928" y="2688336"/>
            <a:ext cx="365760" cy="365760"/>
          </a:xfrm>
          <a:prstGeom prst="ellipse">
            <a:avLst/>
          </a:prstGeom>
          <a:solidFill>
            <a:schemeClr val="accent2"/>
          </a:solidFill>
          <a:ln w="12700">
            <a:solidFill>
              <a:schemeClr val="accent2"/>
            </a:solidFill>
            <a:prstDash val="solid"/>
          </a:ln>
        </p:spPr>
      </p:sp>
      <p:sp>
        <p:nvSpPr>
          <p:cNvPr id="15" name="Text 12"/>
          <p:cNvSpPr txBox="1"/>
          <p:nvPr/>
        </p:nvSpPr>
        <p:spPr>
          <a:xfrm>
            <a:off x="566928" y="2688336"/>
            <a:ext cx="365760" cy="36576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1051560" y="2578608"/>
            <a:ext cx="4160520" cy="585216"/>
          </a:xfrm>
          <a:prstGeom prst="rect">
            <a:avLst/>
          </a:prstGeom>
          <a:noFill/>
          <a:ln/>
        </p:spPr>
        <p:txBody>
          <a:bodyPr wrap="square" lIns="508" tIns="508" rIns="508" bIns="508"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Watch syncs: </a:t>
            </a:r>
            <a:pPr indent="0" marL="0">
              <a:buNone/>
            </a:pPr>
            <a:r>
              <a:rPr lang="en-US" sz="1200" dirty="0">
                <a:solidFill>
                  <a:schemeClr val="tx1"/>
                </a:solidFill>
                <a:latin typeface="Calibri" pitchFamily="34" charset="0"/>
                <a:ea typeface="Calibri" pitchFamily="34" charset="-122"/>
                <a:cs typeface="Calibri" pitchFamily="34" charset="-120"/>
              </a:rPr>
              <a:t>same date, different total: trigger fires.</a:t>
            </a:r>
            <a:endParaRPr lang="en-US" sz="1200" dirty="0"/>
          </a:p>
        </p:txBody>
      </p:sp>
      <p:sp>
        <p:nvSpPr>
          <p:cNvPr id="17" name="Shape 14"/>
          <p:cNvSpPr/>
          <p:nvPr/>
        </p:nvSpPr>
        <p:spPr>
          <a:xfrm>
            <a:off x="457200" y="3246120"/>
            <a:ext cx="4846320" cy="621792"/>
          </a:xfrm>
          <a:prstGeom prst="roundRect">
            <a:avLst>
              <a:gd name="adj" fmla="val 10294"/>
            </a:avLst>
          </a:prstGeom>
          <a:solidFill>
            <a:schemeClr val="bg2"/>
          </a:solidFill>
          <a:ln w="9525">
            <a:solidFill>
              <a:schemeClr val="accent2"/>
            </a:solidFill>
            <a:prstDash val="solid"/>
          </a:ln>
        </p:spPr>
      </p:sp>
      <p:sp>
        <p:nvSpPr>
          <p:cNvPr id="18" name="Shape 15"/>
          <p:cNvSpPr/>
          <p:nvPr/>
        </p:nvSpPr>
        <p:spPr>
          <a:xfrm>
            <a:off x="566928" y="3374136"/>
            <a:ext cx="365760" cy="365760"/>
          </a:xfrm>
          <a:prstGeom prst="ellipse">
            <a:avLst/>
          </a:prstGeom>
          <a:solidFill>
            <a:schemeClr val="accent2"/>
          </a:solidFill>
          <a:ln w="12700">
            <a:solidFill>
              <a:schemeClr val="accent2"/>
            </a:solidFill>
            <a:prstDash val="solid"/>
          </a:ln>
        </p:spPr>
      </p:sp>
      <p:sp>
        <p:nvSpPr>
          <p:cNvPr id="19" name="Text 16"/>
          <p:cNvSpPr txBox="1"/>
          <p:nvPr/>
        </p:nvSpPr>
        <p:spPr>
          <a:xfrm>
            <a:off x="566928" y="3374136"/>
            <a:ext cx="365760" cy="36576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1051560" y="3264408"/>
            <a:ext cx="4160520" cy="585216"/>
          </a:xfrm>
          <a:prstGeom prst="rect">
            <a:avLst/>
          </a:prstGeom>
          <a:noFill/>
          <a:ln/>
        </p:spPr>
        <p:txBody>
          <a:bodyPr wrap="square" lIns="508" tIns="508" rIns="508" bIns="508"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Audit: </a:t>
            </a:r>
            <a:pPr indent="0" marL="0">
              <a:buNone/>
            </a:pPr>
            <a:r>
              <a:rPr lang="en-US" sz="1200" dirty="0">
                <a:solidFill>
                  <a:schemeClr val="tx1"/>
                </a:solidFill>
                <a:latin typeface="Calibri" pitchFamily="34" charset="0"/>
                <a:ea typeface="Calibri" pitchFamily="34" charset="-122"/>
                <a:cs typeface="Calibri" pitchFamily="34" charset="-120"/>
              </a:rPr>
              <a:t>both readings written to conflict_log.</a:t>
            </a:r>
            <a:endParaRPr lang="en-US" sz="1200" dirty="0"/>
          </a:p>
        </p:txBody>
      </p:sp>
      <p:sp>
        <p:nvSpPr>
          <p:cNvPr id="21" name="Shape 18"/>
          <p:cNvSpPr/>
          <p:nvPr/>
        </p:nvSpPr>
        <p:spPr>
          <a:xfrm>
            <a:off x="457200" y="3931920"/>
            <a:ext cx="4846320" cy="621792"/>
          </a:xfrm>
          <a:prstGeom prst="roundRect">
            <a:avLst>
              <a:gd name="adj" fmla="val 10294"/>
            </a:avLst>
          </a:prstGeom>
          <a:solidFill>
            <a:schemeClr val="bg2"/>
          </a:solidFill>
          <a:ln w="9525">
            <a:solidFill>
              <a:schemeClr val="accent3"/>
            </a:solidFill>
            <a:prstDash val="solid"/>
          </a:ln>
        </p:spPr>
      </p:sp>
      <p:sp>
        <p:nvSpPr>
          <p:cNvPr id="22" name="Shape 19"/>
          <p:cNvSpPr/>
          <p:nvPr/>
        </p:nvSpPr>
        <p:spPr>
          <a:xfrm>
            <a:off x="566928" y="4059936"/>
            <a:ext cx="365760" cy="365760"/>
          </a:xfrm>
          <a:prstGeom prst="ellipse">
            <a:avLst/>
          </a:prstGeom>
          <a:solidFill>
            <a:schemeClr val="accent3"/>
          </a:solidFill>
          <a:ln w="12700">
            <a:solidFill>
              <a:schemeClr val="accent3"/>
            </a:solidFill>
            <a:prstDash val="solid"/>
          </a:ln>
        </p:spPr>
      </p:sp>
      <p:sp>
        <p:nvSpPr>
          <p:cNvPr id="23" name="Text 20"/>
          <p:cNvSpPr txBox="1"/>
          <p:nvPr/>
        </p:nvSpPr>
        <p:spPr>
          <a:xfrm>
            <a:off x="566928" y="4059936"/>
            <a:ext cx="365760" cy="365760"/>
          </a:xfrm>
          <a:prstGeom prst="rect">
            <a:avLst/>
          </a:prstGeom>
          <a:noFill/>
          <a:ln/>
        </p:spPr>
        <p:txBody>
          <a:bodyPr wrap="square" lIns="0" tIns="0" rIns="0" bIns="0" rtlCol="0" anchor="ctr"/>
          <a:lstStyle/>
          <a:p>
            <a:pPr algn="ctr" indent="0" marL="0">
              <a:buNone/>
            </a:pPr>
            <a:r>
              <a:rPr lang="en-US" sz="1400" b="1" dirty="0">
                <a:solidFill>
                  <a:srgbClr val="0B1E3F"/>
                </a:solidFill>
                <a:latin typeface="Calibri" pitchFamily="34" charset="0"/>
                <a:ea typeface="Calibri" pitchFamily="34" charset="-122"/>
                <a:cs typeface="Calibri" pitchFamily="34" charset="-120"/>
              </a:rPr>
              <a:t>5</a:t>
            </a:r>
            <a:endParaRPr lang="en-US" sz="1400" dirty="0"/>
          </a:p>
        </p:txBody>
      </p:sp>
      <p:sp>
        <p:nvSpPr>
          <p:cNvPr id="24" name="Text 21"/>
          <p:cNvSpPr txBox="1"/>
          <p:nvPr/>
        </p:nvSpPr>
        <p:spPr>
          <a:xfrm>
            <a:off x="1051560" y="3950208"/>
            <a:ext cx="4160520" cy="585216"/>
          </a:xfrm>
          <a:prstGeom prst="rect">
            <a:avLst/>
          </a:prstGeom>
          <a:noFill/>
          <a:ln/>
        </p:spPr>
        <p:txBody>
          <a:bodyPr wrap="square" lIns="508" tIns="508" rIns="508" bIns="508" rtlCol="0" anchor="ctr"/>
          <a:lstStyle/>
          <a:p>
            <a:pPr indent="0" marL="0">
              <a:buNone/>
            </a:pPr>
            <a:r>
              <a:rPr lang="en-US" sz="1200" b="1" dirty="0">
                <a:solidFill>
                  <a:schemeClr val="accent3"/>
                </a:solidFill>
                <a:latin typeface="Calibri" pitchFamily="34" charset="0"/>
                <a:ea typeface="Calibri" pitchFamily="34" charset="-122"/>
                <a:cs typeface="Calibri" pitchFamily="34" charset="-120"/>
              </a:rPr>
              <a:t>Resolved: </a:t>
            </a:r>
            <a:pPr indent="0" marL="0">
              <a:buNone/>
            </a:pPr>
            <a:r>
              <a:rPr lang="en-US" sz="1200" dirty="0">
                <a:solidFill>
                  <a:schemeClr val="tx1"/>
                </a:solidFill>
                <a:latin typeface="Calibri" pitchFamily="34" charset="0"/>
                <a:ea typeface="Calibri" pitchFamily="34" charset="-122"/>
                <a:cs typeface="Calibri" pitchFamily="34" charset="-120"/>
              </a:rPr>
              <a:t>WEARABLE_HARDWARE_PRIORITY keeps 11,280.</a:t>
            </a:r>
            <a:endParaRPr lang="en-US" sz="1200" dirty="0"/>
          </a:p>
        </p:txBody>
      </p:sp>
      <p:sp>
        <p:nvSpPr>
          <p:cNvPr id="25" name="Shape 22"/>
          <p:cNvSpPr/>
          <p:nvPr/>
        </p:nvSpPr>
        <p:spPr>
          <a:xfrm>
            <a:off x="5532120" y="1188720"/>
            <a:ext cx="3154680" cy="1554480"/>
          </a:xfrm>
          <a:prstGeom prst="roundRect">
            <a:avLst>
              <a:gd name="adj" fmla="val 3529"/>
            </a:avLst>
          </a:prstGeom>
          <a:solidFill>
            <a:srgbClr val="071429"/>
          </a:solidFill>
          <a:ln w="9525">
            <a:solidFill>
              <a:schemeClr val="accent6"/>
            </a:solidFill>
            <a:prstDash val="solid"/>
          </a:ln>
        </p:spPr>
      </p:sp>
      <p:sp>
        <p:nvSpPr>
          <p:cNvPr id="26" name="Text 23"/>
          <p:cNvSpPr txBox="1"/>
          <p:nvPr/>
        </p:nvSpPr>
        <p:spPr>
          <a:xfrm>
            <a:off x="5641848" y="1280160"/>
            <a:ext cx="2935224" cy="1371600"/>
          </a:xfrm>
          <a:prstGeom prst="rect">
            <a:avLst/>
          </a:prstGeom>
          <a:noFill/>
          <a:ln/>
        </p:spPr>
        <p:txBody>
          <a:bodyPr wrap="square" lIns="0" tIns="0" rIns="0" bIns="0" rtlCol="0" anchor="t"/>
          <a:lstStyle/>
          <a:p>
            <a:pPr indent="0" marL="0">
              <a:buNone/>
            </a:pPr>
            <a:r>
              <a:rPr lang="en-US" sz="1000" dirty="0">
                <a:solidFill>
                  <a:srgbClr val="D6E4FF"/>
                </a:solidFill>
                <a:latin typeface="Courier New" pitchFamily="34" charset="0"/>
                <a:ea typeface="Courier New" pitchFamily="34" charset="-122"/>
                <a:cs typeface="Courier New" pitchFamily="34" charset="-120"/>
              </a:rPr>
              <a:t>SELECT * FROM v_recent_conflicts;</a:t>
            </a:r>
            <a:endParaRPr lang="en-US" sz="1000" dirty="0"/>
          </a:p>
          <a:p>
            <a:pPr indent="0" marL="0">
              <a:buNone/>
            </a:pP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entry_date : 2026-10-12</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phone      : 8,450</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watch      : 11,280</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resolution :</a:t>
            </a:r>
            <a:endParaRPr lang="en-US" sz="1000" dirty="0"/>
          </a:p>
          <a:p>
            <a:pPr indent="0" marL="0">
              <a:buNone/>
            </a:pPr>
            <a:r>
              <a:rPr lang="en-US" sz="1000" dirty="0">
                <a:solidFill>
                  <a:srgbClr val="D6E4FF"/>
                </a:solidFill>
                <a:latin typeface="Courier New" pitchFamily="34" charset="0"/>
                <a:ea typeface="Courier New" pitchFamily="34" charset="-122"/>
                <a:cs typeface="Courier New" pitchFamily="34" charset="-120"/>
              </a:rPr>
              <a:t>  WEARABLE_HARDWARE_PRIORITY</a:t>
            </a:r>
            <a:endParaRPr lang="en-US" sz="1000" dirty="0"/>
          </a:p>
        </p:txBody>
      </p:sp>
      <p:sp>
        <p:nvSpPr>
          <p:cNvPr id="27" name="Shape 24"/>
          <p:cNvSpPr/>
          <p:nvPr/>
        </p:nvSpPr>
        <p:spPr>
          <a:xfrm>
            <a:off x="5532120" y="2926080"/>
            <a:ext cx="3154680" cy="1645920"/>
          </a:xfrm>
          <a:prstGeom prst="roundRect">
            <a:avLst>
              <a:gd name="adj" fmla="val 3889"/>
            </a:avLst>
          </a:prstGeom>
          <a:solidFill>
            <a:schemeClr val="bg2"/>
          </a:solidFill>
          <a:ln w="9525">
            <a:solidFill>
              <a:schemeClr val="accent3"/>
            </a:solidFill>
            <a:prstDash val="solid"/>
          </a:ln>
        </p:spPr>
      </p:sp>
      <p:sp>
        <p:nvSpPr>
          <p:cNvPr id="28" name="Text 25"/>
          <p:cNvSpPr txBox="1"/>
          <p:nvPr/>
        </p:nvSpPr>
        <p:spPr>
          <a:xfrm>
            <a:off x="5532120" y="2971800"/>
            <a:ext cx="3154680" cy="731520"/>
          </a:xfrm>
          <a:prstGeom prst="rect">
            <a:avLst/>
          </a:prstGeom>
          <a:noFill/>
          <a:ln/>
        </p:spPr>
        <p:txBody>
          <a:bodyPr wrap="square" lIns="0" tIns="0" rIns="0" bIns="0" rtlCol="0" anchor="ctr"/>
          <a:lstStyle/>
          <a:p>
            <a:pPr algn="ctr" indent="0" marL="0">
              <a:buNone/>
            </a:pPr>
            <a:r>
              <a:rPr lang="en-US" sz="4400" b="1" dirty="0">
                <a:solidFill>
                  <a:schemeClr val="accent3"/>
                </a:solidFill>
                <a:latin typeface="Cambria" pitchFamily="34" charset="0"/>
                <a:ea typeface="Cambria" pitchFamily="34" charset="-122"/>
                <a:cs typeface="Cambria" pitchFamily="34" charset="-120"/>
              </a:rPr>
              <a:t>11,280</a:t>
            </a:r>
            <a:endParaRPr lang="en-US" sz="4400" dirty="0"/>
          </a:p>
        </p:txBody>
      </p:sp>
      <p:sp>
        <p:nvSpPr>
          <p:cNvPr id="29" name="Text 26"/>
          <p:cNvSpPr txBox="1"/>
          <p:nvPr/>
        </p:nvSpPr>
        <p:spPr>
          <a:xfrm>
            <a:off x="5669280" y="3703320"/>
            <a:ext cx="2880360" cy="822960"/>
          </a:xfrm>
          <a:prstGeom prst="rect">
            <a:avLst/>
          </a:prstGeom>
          <a:noFill/>
          <a:ln/>
        </p:spPr>
        <p:txBody>
          <a:bodyPr wrap="square" lIns="508" tIns="508" rIns="508" bIns="508" rtlCol="0" anchor="t"/>
          <a:lstStyle/>
          <a:p>
            <a:pPr algn="ctr" indent="0" marL="0">
              <a:spcAft>
                <a:spcPts val="400"/>
              </a:spcAft>
              <a:buNone/>
            </a:pPr>
            <a:r>
              <a:rPr lang="en-US" sz="1200" dirty="0">
                <a:solidFill>
                  <a:schemeClr val="tx2"/>
                </a:solidFill>
                <a:latin typeface="Calibri" pitchFamily="34" charset="0"/>
                <a:ea typeface="Calibri" pitchFamily="34" charset="-122"/>
                <a:cs typeface="Calibri" pitchFamily="34" charset="-120"/>
              </a:rPr>
              <a:t>steps kept for the day (watch wins)</a:t>
            </a:r>
            <a:endParaRPr lang="en-US" sz="1400" dirty="0"/>
          </a:p>
          <a:p>
            <a:pPr algn="ctr" indent="0" marL="0">
              <a:spcAft>
                <a:spcPts val="400"/>
              </a:spcAft>
              <a:buNone/>
            </a:pPr>
            <a:r>
              <a:rPr lang="en-US" sz="1200" dirty="0">
                <a:solidFill>
                  <a:schemeClr val="tx1"/>
                </a:solidFill>
                <a:latin typeface="Calibri" pitchFamily="34" charset="0"/>
                <a:ea typeface="Calibri" pitchFamily="34" charset="-122"/>
                <a:cs typeface="Calibri" pitchFamily="34" charset="-120"/>
              </a:rPr>
              <a:t>Both readings preserved. Nothing silently overwritten.</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82880"/>
            <a:ext cx="640080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WRAP-UP</a:t>
            </a:r>
            <a:endParaRPr lang="en-US" sz="1000" dirty="0"/>
          </a:p>
        </p:txBody>
      </p:sp>
      <p:sp>
        <p:nvSpPr>
          <p:cNvPr id="3"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Conclusion &amp; Review 3 Roadmap</a:t>
            </a:r>
            <a:endParaRPr lang="en-US" sz="2800" dirty="0"/>
          </a:p>
        </p:txBody>
      </p:sp>
      <p:sp>
        <p:nvSpPr>
          <p:cNvPr id="5" name="Text 2"/>
          <p:cNvSpPr txBox="1"/>
          <p:nvPr/>
        </p:nvSpPr>
        <p:spPr>
          <a:xfrm>
            <a:off x="457200" y="1143000"/>
            <a:ext cx="4023360" cy="228600"/>
          </a:xfrm>
          <a:prstGeom prst="rect">
            <a:avLst/>
          </a:prstGeom>
          <a:noFill/>
          <a:ln/>
        </p:spPr>
        <p:txBody>
          <a:bodyPr wrap="square" lIns="0" tIns="0" rIns="0" bIns="0" rtlCol="0" anchor="t"/>
          <a:lstStyle/>
          <a:p>
            <a:pPr indent="0" marL="0">
              <a:buNone/>
            </a:pPr>
            <a:r>
              <a:rPr lang="en-US" sz="1000" b="1" dirty="0">
                <a:solidFill>
                  <a:schemeClr val="tx2"/>
                </a:solidFill>
                <a:latin typeface="Calibri" pitchFamily="34" charset="0"/>
                <a:ea typeface="Calibri" pitchFamily="34" charset="-122"/>
                <a:cs typeface="Calibri" pitchFamily="34" charset="-120"/>
              </a:rPr>
              <a:t>KEY ACHIEVEMENTS</a:t>
            </a:r>
            <a:endParaRPr lang="en-US" sz="1000" dirty="0"/>
          </a:p>
        </p:txBody>
      </p:sp>
      <p:sp>
        <p:nvSpPr>
          <p:cNvPr id="6" name="Shape 3"/>
          <p:cNvSpPr/>
          <p:nvPr/>
        </p:nvSpPr>
        <p:spPr>
          <a:xfrm>
            <a:off x="457200" y="1463040"/>
            <a:ext cx="4023360" cy="704088"/>
          </a:xfrm>
          <a:prstGeom prst="roundRect">
            <a:avLst>
              <a:gd name="adj" fmla="val 9091"/>
            </a:avLst>
          </a:prstGeom>
          <a:solidFill>
            <a:schemeClr val="bg2"/>
          </a:solidFill>
          <a:ln w="9525">
            <a:solidFill>
              <a:schemeClr val="accent3"/>
            </a:solidFill>
            <a:prstDash val="solid"/>
          </a:ln>
        </p:spPr>
      </p:sp>
      <p:sp>
        <p:nvSpPr>
          <p:cNvPr id="7" name="Shape 4"/>
          <p:cNvSpPr/>
          <p:nvPr/>
        </p:nvSpPr>
        <p:spPr>
          <a:xfrm>
            <a:off x="594360" y="1682496"/>
            <a:ext cx="256032" cy="256032"/>
          </a:xfrm>
          <a:prstGeom prst="ellipse">
            <a:avLst/>
          </a:prstGeom>
          <a:solidFill>
            <a:schemeClr val="accent3"/>
          </a:solidFill>
          <a:ln w="12700">
            <a:solidFill>
              <a:schemeClr val="accent3"/>
            </a:solidFill>
            <a:prstDash val="solid"/>
          </a:ln>
        </p:spPr>
      </p:sp>
      <p:sp>
        <p:nvSpPr>
          <p:cNvPr id="8" name="Text 5"/>
          <p:cNvSpPr txBox="1"/>
          <p:nvPr/>
        </p:nvSpPr>
        <p:spPr>
          <a:xfrm>
            <a:off x="1005840" y="1463040"/>
            <a:ext cx="3383280" cy="704088"/>
          </a:xfrm>
          <a:prstGeom prst="rect">
            <a:avLst/>
          </a:prstGeom>
          <a:noFill/>
          <a:ln/>
        </p:spPr>
        <p:txBody>
          <a:bodyPr wrap="square" lIns="508" tIns="508" rIns="508" bIns="508" rtlCol="0" anchor="ctr"/>
          <a:lstStyle/>
          <a:p>
            <a:pPr indent="0" marL="0">
              <a:buNone/>
            </a:pPr>
            <a:r>
              <a:rPr lang="en-US" sz="1300" dirty="0">
                <a:solidFill>
                  <a:schemeClr val="tx1"/>
                </a:solidFill>
                <a:latin typeface="Calibri" pitchFamily="34" charset="0"/>
                <a:ea typeface="Calibri" pitchFamily="34" charset="-122"/>
                <a:cs typeface="Calibri" pitchFamily="34" charset="-120"/>
              </a:rPr>
              <a:t>BCNF schema with EER Table-per-Subtype specialization</a:t>
            </a:r>
            <a:endParaRPr lang="en-US" sz="1300" dirty="0"/>
          </a:p>
        </p:txBody>
      </p:sp>
      <p:sp>
        <p:nvSpPr>
          <p:cNvPr id="9" name="Shape 6"/>
          <p:cNvSpPr/>
          <p:nvPr/>
        </p:nvSpPr>
        <p:spPr>
          <a:xfrm>
            <a:off x="457200" y="2258568"/>
            <a:ext cx="4023360" cy="704088"/>
          </a:xfrm>
          <a:prstGeom prst="roundRect">
            <a:avLst>
              <a:gd name="adj" fmla="val 9091"/>
            </a:avLst>
          </a:prstGeom>
          <a:solidFill>
            <a:schemeClr val="bg2"/>
          </a:solidFill>
          <a:ln w="9525">
            <a:solidFill>
              <a:schemeClr val="accent3"/>
            </a:solidFill>
            <a:prstDash val="solid"/>
          </a:ln>
        </p:spPr>
      </p:sp>
      <p:sp>
        <p:nvSpPr>
          <p:cNvPr id="10" name="Shape 7"/>
          <p:cNvSpPr/>
          <p:nvPr/>
        </p:nvSpPr>
        <p:spPr>
          <a:xfrm>
            <a:off x="594360" y="2478024"/>
            <a:ext cx="256032" cy="256032"/>
          </a:xfrm>
          <a:prstGeom prst="ellipse">
            <a:avLst/>
          </a:prstGeom>
          <a:solidFill>
            <a:schemeClr val="accent3"/>
          </a:solidFill>
          <a:ln w="12700">
            <a:solidFill>
              <a:schemeClr val="accent3"/>
            </a:solidFill>
            <a:prstDash val="solid"/>
          </a:ln>
        </p:spPr>
      </p:sp>
      <p:sp>
        <p:nvSpPr>
          <p:cNvPr id="11" name="Text 8"/>
          <p:cNvSpPr txBox="1"/>
          <p:nvPr/>
        </p:nvSpPr>
        <p:spPr>
          <a:xfrm>
            <a:off x="1005840" y="2258568"/>
            <a:ext cx="3383280" cy="704088"/>
          </a:xfrm>
          <a:prstGeom prst="rect">
            <a:avLst/>
          </a:prstGeom>
          <a:noFill/>
          <a:ln/>
        </p:spPr>
        <p:txBody>
          <a:bodyPr wrap="square" lIns="508" tIns="508" rIns="508" bIns="508" rtlCol="0" anchor="ctr"/>
          <a:lstStyle/>
          <a:p>
            <a:pPr indent="0" marL="0">
              <a:buNone/>
            </a:pPr>
            <a:r>
              <a:rPr lang="en-US" sz="1300" dirty="0">
                <a:solidFill>
                  <a:schemeClr val="tx1"/>
                </a:solidFill>
                <a:latin typeface="Calibri" pitchFamily="34" charset="0"/>
                <a:ea typeface="Calibri" pitchFamily="34" charset="-122"/>
                <a:cs typeface="Calibri" pitchFamily="34" charset="-120"/>
              </a:rPr>
              <a:t>Multi-sensor conflicts caught in-database by PL/pgSQL triggers</a:t>
            </a:r>
            <a:endParaRPr lang="en-US" sz="1300" dirty="0"/>
          </a:p>
        </p:txBody>
      </p:sp>
      <p:sp>
        <p:nvSpPr>
          <p:cNvPr id="12" name="Shape 9"/>
          <p:cNvSpPr/>
          <p:nvPr/>
        </p:nvSpPr>
        <p:spPr>
          <a:xfrm>
            <a:off x="457200" y="3054096"/>
            <a:ext cx="4023360" cy="704088"/>
          </a:xfrm>
          <a:prstGeom prst="roundRect">
            <a:avLst>
              <a:gd name="adj" fmla="val 9091"/>
            </a:avLst>
          </a:prstGeom>
          <a:solidFill>
            <a:schemeClr val="bg2"/>
          </a:solidFill>
          <a:ln w="9525">
            <a:solidFill>
              <a:schemeClr val="accent3"/>
            </a:solidFill>
            <a:prstDash val="solid"/>
          </a:ln>
        </p:spPr>
      </p:sp>
      <p:sp>
        <p:nvSpPr>
          <p:cNvPr id="13" name="Shape 10"/>
          <p:cNvSpPr/>
          <p:nvPr/>
        </p:nvSpPr>
        <p:spPr>
          <a:xfrm>
            <a:off x="594360" y="3273552"/>
            <a:ext cx="256032" cy="256032"/>
          </a:xfrm>
          <a:prstGeom prst="ellipse">
            <a:avLst/>
          </a:prstGeom>
          <a:solidFill>
            <a:schemeClr val="accent3"/>
          </a:solidFill>
          <a:ln w="12700">
            <a:solidFill>
              <a:schemeClr val="accent3"/>
            </a:solidFill>
            <a:prstDash val="solid"/>
          </a:ln>
        </p:spPr>
      </p:sp>
      <p:sp>
        <p:nvSpPr>
          <p:cNvPr id="14" name="Text 11"/>
          <p:cNvSpPr txBox="1"/>
          <p:nvPr/>
        </p:nvSpPr>
        <p:spPr>
          <a:xfrm>
            <a:off x="1005840" y="3054096"/>
            <a:ext cx="3383280" cy="704088"/>
          </a:xfrm>
          <a:prstGeom prst="rect">
            <a:avLst/>
          </a:prstGeom>
          <a:noFill/>
          <a:ln/>
        </p:spPr>
        <p:txBody>
          <a:bodyPr wrap="square" lIns="508" tIns="508" rIns="508" bIns="508" rtlCol="0" anchor="ctr"/>
          <a:lstStyle/>
          <a:p>
            <a:pPr indent="0" marL="0">
              <a:buNone/>
            </a:pPr>
            <a:r>
              <a:rPr lang="en-US" sz="1300" dirty="0">
                <a:solidFill>
                  <a:schemeClr val="tx1"/>
                </a:solidFill>
                <a:latin typeface="Calibri" pitchFamily="34" charset="0"/>
                <a:ea typeface="Calibri" pitchFamily="34" charset="-122"/>
                <a:cs typeface="Calibri" pitchFamily="34" charset="-120"/>
              </a:rPr>
              <a:t>Atomic, idempotent sync over psycopg2 transactions</a:t>
            </a:r>
            <a:endParaRPr lang="en-US" sz="1300" dirty="0"/>
          </a:p>
        </p:txBody>
      </p:sp>
      <p:sp>
        <p:nvSpPr>
          <p:cNvPr id="15" name="Shape 12"/>
          <p:cNvSpPr/>
          <p:nvPr/>
        </p:nvSpPr>
        <p:spPr>
          <a:xfrm>
            <a:off x="457200" y="3849624"/>
            <a:ext cx="4023360" cy="704088"/>
          </a:xfrm>
          <a:prstGeom prst="roundRect">
            <a:avLst>
              <a:gd name="adj" fmla="val 9091"/>
            </a:avLst>
          </a:prstGeom>
          <a:solidFill>
            <a:schemeClr val="bg2"/>
          </a:solidFill>
          <a:ln w="9525">
            <a:solidFill>
              <a:schemeClr val="accent3"/>
            </a:solidFill>
            <a:prstDash val="solid"/>
          </a:ln>
        </p:spPr>
      </p:sp>
      <p:sp>
        <p:nvSpPr>
          <p:cNvPr id="16" name="Shape 13"/>
          <p:cNvSpPr/>
          <p:nvPr/>
        </p:nvSpPr>
        <p:spPr>
          <a:xfrm>
            <a:off x="594360" y="4069080"/>
            <a:ext cx="256032" cy="256032"/>
          </a:xfrm>
          <a:prstGeom prst="ellipse">
            <a:avLst/>
          </a:prstGeom>
          <a:solidFill>
            <a:schemeClr val="accent3"/>
          </a:solidFill>
          <a:ln w="12700">
            <a:solidFill>
              <a:schemeClr val="accent3"/>
            </a:solidFill>
            <a:prstDash val="solid"/>
          </a:ln>
        </p:spPr>
      </p:sp>
      <p:sp>
        <p:nvSpPr>
          <p:cNvPr id="17" name="Text 14"/>
          <p:cNvSpPr txBox="1"/>
          <p:nvPr/>
        </p:nvSpPr>
        <p:spPr>
          <a:xfrm>
            <a:off x="1005840" y="3849624"/>
            <a:ext cx="3383280" cy="704088"/>
          </a:xfrm>
          <a:prstGeom prst="rect">
            <a:avLst/>
          </a:prstGeom>
          <a:noFill/>
          <a:ln/>
        </p:spPr>
        <p:txBody>
          <a:bodyPr wrap="square" lIns="508" tIns="508" rIns="508" bIns="508" rtlCol="0" anchor="ctr"/>
          <a:lstStyle/>
          <a:p>
            <a:pPr indent="0" marL="0">
              <a:buNone/>
            </a:pPr>
            <a:r>
              <a:rPr lang="en-US" sz="1300" dirty="0">
                <a:solidFill>
                  <a:schemeClr val="tx1"/>
                </a:solidFill>
                <a:latin typeface="Calibri" pitchFamily="34" charset="0"/>
                <a:ea typeface="Calibri" pitchFamily="34" charset="-122"/>
                <a:cs typeface="Calibri" pitchFamily="34" charset="-120"/>
              </a:rPr>
              <a:t>Offline-first edge, on-device ML and a live demo dashboard</a:t>
            </a:r>
            <a:endParaRPr lang="en-US" sz="1300" dirty="0"/>
          </a:p>
        </p:txBody>
      </p:sp>
      <p:sp>
        <p:nvSpPr>
          <p:cNvPr id="18" name="Text 15"/>
          <p:cNvSpPr txBox="1"/>
          <p:nvPr/>
        </p:nvSpPr>
        <p:spPr>
          <a:xfrm>
            <a:off x="4754880" y="1143000"/>
            <a:ext cx="3931920" cy="228600"/>
          </a:xfrm>
          <a:prstGeom prst="rect">
            <a:avLst/>
          </a:prstGeom>
          <a:noFill/>
          <a:ln/>
        </p:spPr>
        <p:txBody>
          <a:bodyPr wrap="square" lIns="0" tIns="0" rIns="0" bIns="0" rtlCol="0" anchor="t"/>
          <a:lstStyle/>
          <a:p>
            <a:pPr indent="0" marL="0">
              <a:buNone/>
            </a:pPr>
            <a:r>
              <a:rPr lang="en-US" sz="1000" b="1" dirty="0">
                <a:solidFill>
                  <a:schemeClr val="tx2"/>
                </a:solidFill>
                <a:latin typeface="Calibri" pitchFamily="34" charset="0"/>
                <a:ea typeface="Calibri" pitchFamily="34" charset="-122"/>
                <a:cs typeface="Calibri" pitchFamily="34" charset="-120"/>
              </a:rPr>
              <a:t>REVIEW 3 ROADMAP</a:t>
            </a:r>
            <a:endParaRPr lang="en-US" sz="1000" dirty="0"/>
          </a:p>
        </p:txBody>
      </p:sp>
      <p:sp>
        <p:nvSpPr>
          <p:cNvPr id="19" name="Shape 16"/>
          <p:cNvSpPr/>
          <p:nvPr/>
        </p:nvSpPr>
        <p:spPr>
          <a:xfrm>
            <a:off x="4754880" y="1463040"/>
            <a:ext cx="3931920" cy="704088"/>
          </a:xfrm>
          <a:prstGeom prst="roundRect">
            <a:avLst>
              <a:gd name="adj" fmla="val 9091"/>
            </a:avLst>
          </a:prstGeom>
          <a:solidFill>
            <a:schemeClr val="bg2"/>
          </a:solidFill>
          <a:ln w="9525">
            <a:solidFill>
              <a:schemeClr val="accent1"/>
            </a:solidFill>
            <a:prstDash val="solid"/>
          </a:ln>
        </p:spPr>
      </p:sp>
      <p:sp>
        <p:nvSpPr>
          <p:cNvPr id="20" name="Text 17"/>
          <p:cNvSpPr txBox="1"/>
          <p:nvPr/>
        </p:nvSpPr>
        <p:spPr>
          <a:xfrm>
            <a:off x="4864608" y="1463040"/>
            <a:ext cx="3749040" cy="704088"/>
          </a:xfrm>
          <a:prstGeom prst="rect">
            <a:avLst/>
          </a:prstGeom>
          <a:noFill/>
          <a:ln/>
        </p:spPr>
        <p:txBody>
          <a:bodyPr wrap="square" lIns="508" tIns="508" rIns="508" bIns="508"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Correctness tests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Step conflict, expense collision, replay, rollback</a:t>
            </a:r>
            <a:endParaRPr lang="en-US" sz="1400" dirty="0"/>
          </a:p>
        </p:txBody>
      </p:sp>
      <p:sp>
        <p:nvSpPr>
          <p:cNvPr id="21" name="Shape 18"/>
          <p:cNvSpPr/>
          <p:nvPr/>
        </p:nvSpPr>
        <p:spPr>
          <a:xfrm>
            <a:off x="4754880" y="2258568"/>
            <a:ext cx="3931920" cy="704088"/>
          </a:xfrm>
          <a:prstGeom prst="roundRect">
            <a:avLst>
              <a:gd name="adj" fmla="val 9091"/>
            </a:avLst>
          </a:prstGeom>
          <a:solidFill>
            <a:schemeClr val="bg2"/>
          </a:solidFill>
          <a:ln w="9525">
            <a:solidFill>
              <a:schemeClr val="accent1"/>
            </a:solidFill>
            <a:prstDash val="solid"/>
          </a:ln>
        </p:spPr>
      </p:sp>
      <p:sp>
        <p:nvSpPr>
          <p:cNvPr id="22" name="Text 19"/>
          <p:cNvSpPr txBox="1"/>
          <p:nvPr/>
        </p:nvSpPr>
        <p:spPr>
          <a:xfrm>
            <a:off x="4864608" y="2258568"/>
            <a:ext cx="3749040" cy="704088"/>
          </a:xfrm>
          <a:prstGeom prst="rect">
            <a:avLst/>
          </a:prstGeom>
          <a:noFill/>
          <a:ln/>
        </p:spPr>
        <p:txBody>
          <a:bodyPr wrap="square" lIns="508" tIns="508" rIns="508" bIns="508"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Performance benchmarks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Sync throughput at 1k / 10k rows; trigger overhead</a:t>
            </a:r>
            <a:endParaRPr lang="en-US" sz="1400" dirty="0"/>
          </a:p>
        </p:txBody>
      </p:sp>
      <p:sp>
        <p:nvSpPr>
          <p:cNvPr id="23" name="Shape 20"/>
          <p:cNvSpPr/>
          <p:nvPr/>
        </p:nvSpPr>
        <p:spPr>
          <a:xfrm>
            <a:off x="4754880" y="3054096"/>
            <a:ext cx="3931920" cy="704088"/>
          </a:xfrm>
          <a:prstGeom prst="roundRect">
            <a:avLst>
              <a:gd name="adj" fmla="val 9091"/>
            </a:avLst>
          </a:prstGeom>
          <a:solidFill>
            <a:schemeClr val="bg2"/>
          </a:solidFill>
          <a:ln w="9525">
            <a:solidFill>
              <a:schemeClr val="accent1"/>
            </a:solidFill>
            <a:prstDash val="solid"/>
          </a:ln>
        </p:spPr>
      </p:sp>
      <p:sp>
        <p:nvSpPr>
          <p:cNvPr id="24" name="Text 21"/>
          <p:cNvSpPr txBox="1"/>
          <p:nvPr/>
        </p:nvSpPr>
        <p:spPr>
          <a:xfrm>
            <a:off x="4864608" y="3054096"/>
            <a:ext cx="3749040" cy="704088"/>
          </a:xfrm>
          <a:prstGeom prst="rect">
            <a:avLst/>
          </a:prstGeom>
          <a:noFill/>
          <a:ln/>
        </p:spPr>
        <p:txBody>
          <a:bodyPr wrap="square" lIns="508" tIns="508" rIns="508" bIns="508"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ML validation</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Precision and recall on a labelled expense set</a:t>
            </a:r>
            <a:endParaRPr lang="en-US" sz="1400" dirty="0"/>
          </a:p>
        </p:txBody>
      </p:sp>
      <p:sp>
        <p:nvSpPr>
          <p:cNvPr id="25" name="Shape 22"/>
          <p:cNvSpPr/>
          <p:nvPr/>
        </p:nvSpPr>
        <p:spPr>
          <a:xfrm>
            <a:off x="4754880" y="3849624"/>
            <a:ext cx="3931920" cy="704088"/>
          </a:xfrm>
          <a:prstGeom prst="roundRect">
            <a:avLst>
              <a:gd name="adj" fmla="val 9091"/>
            </a:avLst>
          </a:prstGeom>
          <a:solidFill>
            <a:schemeClr val="bg2"/>
          </a:solidFill>
          <a:ln w="9525">
            <a:solidFill>
              <a:schemeClr val="accent1"/>
            </a:solidFill>
            <a:prstDash val="solid"/>
          </a:ln>
        </p:spPr>
      </p:sp>
      <p:sp>
        <p:nvSpPr>
          <p:cNvPr id="26" name="Text 23"/>
          <p:cNvSpPr txBox="1"/>
          <p:nvPr/>
        </p:nvSpPr>
        <p:spPr>
          <a:xfrm>
            <a:off x="4864608" y="3849624"/>
            <a:ext cx="3749040" cy="704088"/>
          </a:xfrm>
          <a:prstGeom prst="rect">
            <a:avLst/>
          </a:prstGeom>
          <a:noFill/>
          <a:ln/>
        </p:spPr>
        <p:txBody>
          <a:bodyPr wrap="square" lIns="508" tIns="508" rIns="508" bIns="508"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Fault injection</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Network drops mid-batch; verify atomicity</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EdgeDB Navy">
  <a:themeElements>
    <a:clrScheme name="EdgeDB Navy">
      <a:dk1>
        <a:srgbClr val="E8F0FC"/>
      </a:dk1>
      <a:lt1>
        <a:srgbClr val="0B1E3F"/>
      </a:lt1>
      <a:dk2>
        <a:srgbClr val="9FB3D1"/>
      </a:dk2>
      <a:lt2>
        <a:srgbClr val="12305E"/>
      </a:lt2>
      <a:accent1>
        <a:srgbClr val="38BDF8"/>
      </a:accent1>
      <a:accent2>
        <a:srgbClr val="F5B841"/>
      </a:accent2>
      <a:accent3>
        <a:srgbClr val="34D399"/>
      </a:accent3>
      <a:accent4>
        <a:srgbClr val="F87171"/>
      </a:accent4>
      <a:accent5>
        <a:srgbClr val="A78BFA"/>
      </a:accent5>
      <a:accent6>
        <a:srgbClr val="1E4A8A"/>
      </a:accent6>
      <a:hlink>
        <a:srgbClr val="38BDF8"/>
      </a:hlink>
      <a:folHlink>
        <a:srgbClr val="A78BFA"/>
      </a:folHlink>
    </a:clrScheme>
    <a:fontScheme name="EdgeDB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EdgeDB - Offline-First Relational Sync and Multi-Sensor Concurrency Engine</dc:title>
  <dc:subject>PptxGenJS Presentation</dc:subject>
  <dc:creator>Vichruth M</dc:creator>
  <cp:lastModifiedBy>Vichruth M</cp:lastModifiedBy>
  <cp:revision>1</cp:revision>
  <dcterms:created xsi:type="dcterms:W3CDTF">2026-10-12T02:44:15Z</dcterms:created>
  <dcterms:modified xsi:type="dcterms:W3CDTF">2026-10-12T02:44:15Z</dcterms:modified>
</cp:coreProperties>
</file>